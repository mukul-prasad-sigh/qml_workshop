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1481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1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10" Type="http://schemas.openxmlformats.org/officeDocument/2006/relationships/image" Target="../media/image4.svg"/><Relationship Id="rId4" Type="http://schemas.openxmlformats.org/officeDocument/2006/relationships/image" Target="../media/image34.svg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svg"/><Relationship Id="rId9" Type="http://schemas.openxmlformats.org/officeDocument/2006/relationships/image" Target="../media/image5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6.svg"/><Relationship Id="rId9" Type="http://schemas.openxmlformats.org/officeDocument/2006/relationships/image" Target="../media/image6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sv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12" Type="http://schemas.openxmlformats.org/officeDocument/2006/relationships/image" Target="../media/image7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sv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0" Type="http://schemas.openxmlformats.org/officeDocument/2006/relationships/image" Target="../media/image69.svg"/><Relationship Id="rId4" Type="http://schemas.openxmlformats.org/officeDocument/2006/relationships/image" Target="../media/image63.svg"/><Relationship Id="rId9" Type="http://schemas.openxmlformats.org/officeDocument/2006/relationships/image" Target="../media/image6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sv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10" Type="http://schemas.openxmlformats.org/officeDocument/2006/relationships/image" Target="../media/image79.svg"/><Relationship Id="rId4" Type="http://schemas.openxmlformats.org/officeDocument/2006/relationships/image" Target="../media/image73.svg"/><Relationship Id="rId9" Type="http://schemas.openxmlformats.org/officeDocument/2006/relationships/image" Target="../media/image7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sv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sv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0" Type="http://schemas.openxmlformats.org/officeDocument/2006/relationships/image" Target="../media/image87.svg"/><Relationship Id="rId4" Type="http://schemas.openxmlformats.org/officeDocument/2006/relationships/image" Target="../media/image81.svg"/><Relationship Id="rId9" Type="http://schemas.openxmlformats.org/officeDocument/2006/relationships/image" Target="../media/image86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svg"/><Relationship Id="rId3" Type="http://schemas.openxmlformats.org/officeDocument/2006/relationships/image" Target="../media/image90.pn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92.svg"/><Relationship Id="rId10" Type="http://schemas.openxmlformats.org/officeDocument/2006/relationships/image" Target="../media/image96.png"/><Relationship Id="rId4" Type="http://schemas.openxmlformats.org/officeDocument/2006/relationships/image" Target="../media/image91.svg"/><Relationship Id="rId9" Type="http://schemas.openxmlformats.org/officeDocument/2006/relationships/image" Target="../media/image9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Hadamard Gate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Superposition Foundation for Bernstein–Vazirani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3021164"/>
            <a:ext cx="4800600" cy="1089991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9360" y="2838857"/>
            <a:ext cx="5166360" cy="145460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3232" y="4919472"/>
            <a:ext cx="1088136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Hadamard gate takes a qubit that is definitely 0 and creates an equal superposition of 0 and 1.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749808" y="619963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Formula-preserved lecture PPT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84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First, what is |0⟩?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1138428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412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Hadamard Gate: Superposition Foundation for Bernstein–Vazirani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84280" y="645566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1234440"/>
            <a:ext cx="5349240" cy="4892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 quantum computing, the two basic qubit states are represented as vectors.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These are called the computational basis states.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 can think of them as the quantum equivalents of classical 0 and 1, although a qubit can also exist in combinations of these two states.</a:t>
            </a:r>
            <a:endParaRPr lang="en-US" sz="2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8326" y="1325880"/>
            <a:ext cx="2370909" cy="150876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24406" y="1325880"/>
            <a:ext cx="2370909" cy="150876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44768" y="4036822"/>
            <a:ext cx="5440680" cy="30226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355080" y="5047488"/>
            <a:ext cx="4892040" cy="658368"/>
          </a:xfrm>
          <a:prstGeom prst="roundRect">
            <a:avLst>
              <a:gd name="adj" fmla="val 6944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6428232" y="5102352"/>
            <a:ext cx="47457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qubit can exist in combinations of these two states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84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the Hadamard gate?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1138428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412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Hadamard Gate: Superposition Foundation for Bernstein–Vazirani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84280" y="645566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166360" cy="3291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Hadamard gate is written as H.</a:t>
            </a: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r>
              <a:rPr lang="en-US" sz="25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Its major purpose is to convert a definite computational-basis state into a superposition.</a:t>
            </a: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r>
              <a:rPr lang="en-US" sz="25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example:</a:t>
            </a:r>
            <a:endParaRPr lang="en-US" sz="2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0568" y="1170432"/>
            <a:ext cx="4949584" cy="178308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3640" y="3582489"/>
            <a:ext cx="2468880" cy="881743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15400" y="3582489"/>
            <a:ext cx="2468880" cy="881743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005840" y="4919472"/>
            <a:ext cx="10241280" cy="68580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1078992" y="4974336"/>
            <a:ext cx="1009497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computational-basis state → superposition</a:t>
            </a:r>
            <a:endParaRPr lang="en-US" sz="2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145D257-57CF-F576-CA7D-AF7691038D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3582490"/>
            <a:ext cx="2468879" cy="88174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8F34372-7751-E53F-97DC-C6893AECF8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5400" y="3582488"/>
            <a:ext cx="2468880" cy="8817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84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We want to calculate H|0⟩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1138428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412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Hadamard Gate: Superposition Foundation for Bernstein–Vazirani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84280" y="645566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8288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know:</a:t>
            </a:r>
            <a:endParaRPr lang="en-US" sz="2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4323" y="1755648"/>
            <a:ext cx="3877834" cy="12070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154680"/>
            <a:ext cx="18288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and:</a:t>
            </a:r>
            <a:endParaRPr lang="en-US" sz="2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9410" y="3657600"/>
            <a:ext cx="2093181" cy="12344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43600" y="1234440"/>
            <a:ext cx="2194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Therefore:</a:t>
            </a:r>
            <a:endParaRPr lang="en-US" sz="25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80760" y="2056958"/>
            <a:ext cx="5440680" cy="1235323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355080" y="4709160"/>
            <a:ext cx="4892040" cy="713232"/>
          </a:xfrm>
          <a:prstGeom prst="roundRect">
            <a:avLst>
              <a:gd name="adj" fmla="val 641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6428232" y="4764024"/>
            <a:ext cx="474573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Now we simply perform matrix multiplication.</a:t>
            </a:r>
            <a:endParaRPr lang="en-US" sz="2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84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How is the matrix multiplication done?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1138428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412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Hadamard Gate: Superposition Foundation for Bernstein–Vazirani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84280" y="645566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5257800" cy="2286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 the first row [1  1] and multiply it by the column.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So: (1×1)+(1×0)=1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Therefore, the first element of the answer is 1.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3703320"/>
            <a:ext cx="5257800" cy="2286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Now take the second row [1  -1] and multiply it by the column.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get: (1×1)+(-1×0)=1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Therefore the second element is also 1.</a:t>
            </a:r>
            <a:endParaRPr lang="en-US" sz="2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6357" y="1261872"/>
            <a:ext cx="3166607" cy="123444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25089" y="2907792"/>
            <a:ext cx="3569142" cy="123444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97106" y="4736592"/>
            <a:ext cx="3287949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84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Where does the 1/√2 go?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1138428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412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Hadamard Gate: Superposition Foundation for Bernstein–Vazirani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84280" y="645566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4937760" cy="2103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1/√2 multiplies every component of the vector.</a:t>
            </a: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 means:</a:t>
            </a:r>
            <a:endParaRPr lang="en-US" sz="2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2745" y="1325880"/>
            <a:ext cx="1867711" cy="137160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84719" y="1325880"/>
            <a:ext cx="1564481" cy="1371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3794760"/>
            <a:ext cx="20116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Therefore:</a:t>
            </a:r>
            <a:endParaRPr lang="en-US" sz="2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11003" y="3474720"/>
            <a:ext cx="2767914" cy="16002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108960" y="5440680"/>
            <a:ext cx="6080760" cy="621792"/>
          </a:xfrm>
          <a:prstGeom prst="roundRect">
            <a:avLst>
              <a:gd name="adj" fmla="val 735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3182112" y="5495544"/>
            <a:ext cx="59344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scalar is distributed to every component.</a:t>
            </a:r>
            <a:endParaRPr lang="en-US" sz="2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84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Now how does this become |0⟩ + |1⟩?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1138428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412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Hadamard Gate: Superposition Foundation for Bernstein–Vazirani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84280" y="645566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21031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Remember:</a:t>
            </a:r>
            <a:endParaRPr lang="en-US" sz="2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1822" y="1682496"/>
            <a:ext cx="5143500" cy="1051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Now add them:</a:t>
            </a:r>
            <a:endParaRPr lang="en-US" sz="2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3232" y="3646317"/>
            <a:ext cx="5440680" cy="10741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46520" y="1170432"/>
            <a:ext cx="10058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So:</a:t>
            </a:r>
            <a:endParaRPr lang="en-US" sz="25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7960" y="1686980"/>
            <a:ext cx="4937760" cy="1115744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92240" y="3978306"/>
            <a:ext cx="5029200" cy="14159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84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What does |+⟩ actually mean?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1138428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412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Hadamard Gate: Superposition Foundation for Bernstein–Vazirani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84280" y="645566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5303520" cy="3291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is the physical interpretation.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applying Hadamard: |0⟩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qubit is definitely in state 0.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 if we measure immediately:</a:t>
            </a:r>
            <a:endParaRPr lang="en-US" sz="2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4819793"/>
            <a:ext cx="4572000" cy="4645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26480" y="1143000"/>
            <a:ext cx="34747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 Hadamard:</a:t>
            </a:r>
            <a:endParaRPr lang="en-US" sz="2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90460" y="1645920"/>
            <a:ext cx="2438400" cy="914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26480" y="2834640"/>
            <a:ext cx="5029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Compare this with the general qubit equation:</a:t>
            </a:r>
            <a:endParaRPr lang="en-US" sz="2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63640" y="3606924"/>
            <a:ext cx="4892040" cy="649991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37908" y="4892040"/>
            <a:ext cx="3143504" cy="7772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09360" y="5687568"/>
            <a:ext cx="470916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These are called probability amplitudes.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84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Amplitude is not probability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1138428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412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Hadamard Gate: Superposition Foundation for Bernstein–Vazirani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84280" y="645566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45720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is an important distinction.</a:t>
            </a: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r>
              <a:rPr lang="en-US" sz="25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state 0, amplitude is:</a:t>
            </a:r>
            <a:endParaRPr lang="en-US" sz="2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5688" y="2542032"/>
            <a:ext cx="1243584" cy="777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57600"/>
            <a:ext cx="47548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Probability of measuring 0 is:</a:t>
            </a:r>
            <a:endParaRPr lang="en-US" sz="2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9660" y="4297680"/>
            <a:ext cx="4450080" cy="914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55080" y="1188720"/>
            <a:ext cx="28346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Similarly:</a:t>
            </a:r>
            <a:endParaRPr lang="en-US" sz="25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17788" y="1783080"/>
            <a:ext cx="2829464" cy="914400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35040" y="3429551"/>
            <a:ext cx="5303520" cy="638978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85800" y="5498338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8"/>
          <p:cNvSpPr/>
          <p:nvPr/>
        </p:nvSpPr>
        <p:spPr>
          <a:xfrm>
            <a:off x="758952" y="5559552"/>
            <a:ext cx="107350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Hadamard transformed |0⟩ into an equal superposition of 0 and 1.</a:t>
            </a:r>
            <a:endParaRPr lang="en-US" sz="25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54F4F7D-1DD4-5278-492E-1AEEF51A87C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97750" y="1860550"/>
            <a:ext cx="2718562" cy="8191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84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Why exactly 1/√2?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1138428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412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Hadamard Gate: Superposition Foundation for Bernstein–Vazirani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84280" y="645566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502920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Because quantum states must be normalized.</a:t>
            </a:r>
            <a:endParaRPr lang="en-US" sz="2500" dirty="0"/>
          </a:p>
          <a:p>
            <a:pPr marL="0" indent="0">
              <a:buNone/>
            </a:pPr>
            <a:r>
              <a:rPr lang="en-US" sz="25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a valid qubit:</a:t>
            </a:r>
            <a:endParaRPr lang="en-US" sz="2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2465" y="2514600"/>
            <a:ext cx="3990109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79" y="3429000"/>
            <a:ext cx="521208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Suppose we incorrectly used |0⟩ + |1⟩.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Then α=1, β=1.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Probability total would be 2, meaning 200% probability, which is impossible.</a:t>
            </a:r>
            <a:endParaRPr lang="en-US" sz="2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639" y="4253567"/>
            <a:ext cx="4937760" cy="587193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34907" y="4743255"/>
            <a:ext cx="610325" cy="49874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86094" y="4762273"/>
            <a:ext cx="5012055" cy="120214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4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Therefore the factor                                                 </a:t>
            </a:r>
          </a:p>
          <a:p>
            <a:pPr marL="0" indent="0">
              <a:buNone/>
            </a:pPr>
            <a:endParaRPr lang="en-US" sz="4400" dirty="0">
              <a:solidFill>
                <a:srgbClr val="111827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  <a:p>
            <a:pPr marL="0" indent="0">
              <a:buNone/>
            </a:pPr>
            <a:r>
              <a:rPr lang="en-US" sz="4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ensures that the total measurement probability is 100%.</a:t>
            </a:r>
            <a:endParaRPr lang="en-US" sz="440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F03452E1-32D2-D93B-5FC2-8D55A057C4C0}"/>
              </a:ext>
            </a:extLst>
          </p:cNvPr>
          <p:cNvSpPr/>
          <p:nvPr/>
        </p:nvSpPr>
        <p:spPr>
          <a:xfrm>
            <a:off x="6096000" y="1115569"/>
            <a:ext cx="521208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 we normalize the state for 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Then α= β=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549717B9-761A-A357-F436-8F14CADBA7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38901" y="1536699"/>
            <a:ext cx="525599" cy="65405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D59213F-3927-D4F2-EBA9-6774DC51CF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1166" y="2423159"/>
            <a:ext cx="3312684" cy="20599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84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Let’s also calculate H|1⟩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1138428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412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Hadamard Gate: Superposition Foundation for Bernstein–Vazirani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84280" y="645566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530352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becomes very important for Bernstein–Vazirani because the ancilla starts in |1⟩.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know:</a:t>
            </a:r>
            <a:endParaRPr lang="en-US" sz="2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9308" y="2743200"/>
            <a:ext cx="1550504" cy="91440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89320" y="1333102"/>
            <a:ext cx="5212080" cy="1183419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7920" y="3020621"/>
            <a:ext cx="4297680" cy="469287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35040" y="3797046"/>
            <a:ext cx="4663440" cy="434340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14475" y="4343400"/>
            <a:ext cx="8858250" cy="1417320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841248" y="5806440"/>
            <a:ext cx="10561320" cy="566928"/>
          </a:xfrm>
          <a:prstGeom prst="roundRect">
            <a:avLst>
              <a:gd name="adj" fmla="val 806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6"/>
          <p:cNvSpPr/>
          <p:nvPr/>
        </p:nvSpPr>
        <p:spPr>
          <a:xfrm>
            <a:off x="914400" y="5861304"/>
            <a:ext cx="1041501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Our two important equations:  H|0⟩ = |+⟩   and   H|1⟩ = |−⟩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84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 Difference between |+⟩ and |−⟩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1138428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412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Hadamard Gate: Superposition Foundation for Bernstein–Vazirani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84280" y="645566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544068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is subtle but extremely important.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If you measure either one directly in the computational basis, the probabilities are the same:</a:t>
            </a:r>
            <a:endParaRPr lang="en-US" sz="2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0760" y="1285130"/>
            <a:ext cx="5349240" cy="858741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3179826"/>
            <a:ext cx="4663440" cy="3886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4069080"/>
            <a:ext cx="54864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 : If measurement probabilities are the same, what is the difference?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difference is the phase.</a:t>
            </a:r>
            <a:endParaRPr lang="en-US" sz="2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7120" y="2816352"/>
            <a:ext cx="2682240" cy="68580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37120" y="3703320"/>
            <a:ext cx="2682240" cy="68580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382512" y="4773168"/>
            <a:ext cx="4754880" cy="566928"/>
          </a:xfrm>
          <a:prstGeom prst="roundRect">
            <a:avLst>
              <a:gd name="adj" fmla="val 806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/>
          <p:nvPr/>
        </p:nvSpPr>
        <p:spPr>
          <a:xfrm>
            <a:off x="6455664" y="4828032"/>
            <a:ext cx="460857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That minus sign is a relative phase difference.</a:t>
            </a:r>
            <a:endParaRPr lang="en-US" sz="2400" dirty="0"/>
          </a:p>
        </p:txBody>
      </p:sp>
      <p:sp>
        <p:nvSpPr>
          <p:cNvPr id="14" name="Text 8"/>
          <p:cNvSpPr/>
          <p:nvPr/>
        </p:nvSpPr>
        <p:spPr>
          <a:xfrm>
            <a:off x="6336792" y="5596128"/>
            <a:ext cx="49377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phase becomes extremely important during interference.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84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 Another property of Hadamard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1138428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412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Hadamard Gate: Superposition Foundation for Bernstein–Vazirani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84280" y="645566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512064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Now consider applying H again.</a:t>
            </a: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r>
              <a:rPr lang="en-US" sz="25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Because H² = I, applying H again gives:</a:t>
            </a:r>
            <a:endParaRPr lang="en-US" sz="2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2192" y="2971800"/>
            <a:ext cx="2536257" cy="77724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680" y="4069284"/>
            <a:ext cx="4846320" cy="4110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80760" y="1143000"/>
            <a:ext cx="52578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 can think of H as converting between two different bases:</a:t>
            </a:r>
            <a:endParaRPr lang="en-US" sz="2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9632" y="2453887"/>
            <a:ext cx="4983480" cy="395747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95821" y="3611880"/>
            <a:ext cx="3781958" cy="804672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95821" y="4663440"/>
            <a:ext cx="3781958" cy="804672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2148840" y="5715000"/>
            <a:ext cx="7909560" cy="566928"/>
          </a:xfrm>
          <a:prstGeom prst="roundRect">
            <a:avLst>
              <a:gd name="adj" fmla="val 806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7"/>
          <p:cNvSpPr/>
          <p:nvPr/>
        </p:nvSpPr>
        <p:spPr>
          <a:xfrm>
            <a:off x="2221992" y="5769864"/>
            <a:ext cx="776325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|0⟩ ↔ |+⟩     and     |1⟩ ↔ |−⟩</a:t>
            </a:r>
            <a:endParaRPr lang="en-US" sz="25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27EC285-9ED0-3624-4DF9-CDFF5F8E2A7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95821" y="3538415"/>
            <a:ext cx="3781958" cy="164819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7B13403-207F-B680-CBE4-3D767B98134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95821" y="4681728"/>
            <a:ext cx="3872179" cy="71676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84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 Why is this useful in Bernstein–Vazirani?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1138428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412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Hadamard Gate: Superposition Foundation for Bernstein–Vazirani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84280" y="645566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516636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Now it connects directly to what we were discussing.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Suppose your BV secret is:</a:t>
            </a:r>
            <a:endParaRPr lang="en-US" sz="2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740343"/>
            <a:ext cx="2743200" cy="600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566160"/>
            <a:ext cx="512064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Initially the three data qubits are |000⟩.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 H:</a:t>
            </a:r>
            <a:endParaRPr lang="en-US" sz="2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27023" y="4663440"/>
            <a:ext cx="3655314" cy="7498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80760" y="1143000"/>
            <a:ext cx="521208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 each qubit goes from |0⟩ to |+⟩.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 the same time, the ancilla starts as |1⟩ and Hadamard converts it into |−⟩.</a:t>
            </a:r>
            <a:endParaRPr lang="en-US" sz="2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59929" y="3383280"/>
            <a:ext cx="2099462" cy="749808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9993" y="4407408"/>
            <a:ext cx="2599334" cy="749808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731520" y="5641848"/>
            <a:ext cx="5394960" cy="548640"/>
          </a:xfrm>
          <a:prstGeom prst="roundRect">
            <a:avLst>
              <a:gd name="adj" fmla="val 8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8"/>
          <p:cNvSpPr/>
          <p:nvPr/>
        </p:nvSpPr>
        <p:spPr>
          <a:xfrm>
            <a:off x="804672" y="5696712"/>
            <a:ext cx="52486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|+⟩ states create the input superposition.</a:t>
            </a:r>
            <a:endParaRPr lang="en-US" sz="2400" dirty="0"/>
          </a:p>
        </p:txBody>
      </p:sp>
      <p:sp>
        <p:nvSpPr>
          <p:cNvPr id="15" name="Shape 9"/>
          <p:cNvSpPr/>
          <p:nvPr/>
        </p:nvSpPr>
        <p:spPr>
          <a:xfrm>
            <a:off x="6309360" y="5641848"/>
            <a:ext cx="5257800" cy="548640"/>
          </a:xfrm>
          <a:prstGeom prst="roundRect">
            <a:avLst>
              <a:gd name="adj" fmla="val 8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/>
          <p:nvPr/>
        </p:nvSpPr>
        <p:spPr>
          <a:xfrm>
            <a:off x="6382512" y="5696712"/>
            <a:ext cx="511149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|−⟩ ancilla makes phase kickback possible.</a:t>
            </a:r>
            <a:endParaRPr lang="en-US" sz="2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FE54A11-EC4E-7A29-407C-69D89F13B3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7023" y="4581144"/>
            <a:ext cx="3752977" cy="88696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906C7EC-2860-1D78-5F4F-674ED2A0764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65291" y="3108960"/>
            <a:ext cx="2194099" cy="10332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 Display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865</Words>
  <Application>Microsoft Office PowerPoint</Application>
  <PresentationFormat>Widescreen</PresentationFormat>
  <Paragraphs>148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Hadamard Gate: Superposition Foundation for Bernstein–Vazirani</dc:title>
  <dc:subject>Hadamard Gate formula-preserved explanation</dc:subject>
  <dc:creator>OpenAI</dc:creator>
  <cp:lastModifiedBy>Admin</cp:lastModifiedBy>
  <cp:revision>10</cp:revision>
  <dcterms:created xsi:type="dcterms:W3CDTF">2026-08-12T17:22:59Z</dcterms:created>
  <dcterms:modified xsi:type="dcterms:W3CDTF">2026-08-13T04:11:09Z</dcterms:modified>
</cp:coreProperties>
</file>