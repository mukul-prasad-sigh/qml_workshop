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94" r:id="rId3"/>
    <p:sldId id="257" r:id="rId4"/>
    <p:sldId id="292" r:id="rId5"/>
    <p:sldId id="259" r:id="rId6"/>
    <p:sldId id="25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0" autoAdjust="0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3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2056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4D459-91AA-3F92-B650-65C40FE11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7A4BFA-7FC6-47AD-C400-629C21C9F8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CC4AE9-45A1-6354-445B-E4F37ED47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FC66A-5A02-5E85-7250-584E4A06AE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374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6E75"/>
          </a:solidFill>
          <a:ln w="1270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quantum/qiski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Bernstein–Vazirani Algorithm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469880" y="429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1 of 36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A9B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F06A1E-B302-EEDA-055E-8B60FA60F64C}"/>
              </a:ext>
            </a:extLst>
          </p:cNvPr>
          <p:cNvSpPr txBox="1"/>
          <p:nvPr/>
        </p:nvSpPr>
        <p:spPr>
          <a:xfrm>
            <a:off x="465729" y="1078993"/>
            <a:ext cx="11184341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none" strike="noStrike" dirty="0">
                <a:effectLst/>
                <a:latin typeface="Google Sans"/>
              </a:rPr>
              <a:t>Bernstein-Vazirani</a:t>
            </a:r>
            <a:r>
              <a:rPr lang="en-IN" sz="2400" b="0" u="none" strike="noStrike" dirty="0">
                <a:effectLst/>
                <a:latin typeface="Google Sans"/>
              </a:rPr>
              <a:t> algorithm  is a foundational quantum algorithm that finds a hidden secret binary string (encoded inside a black-box function using just </a:t>
            </a:r>
            <a:r>
              <a:rPr lang="en-IN" sz="2400" b="1" u="none" strike="noStrike" dirty="0">
                <a:effectLst/>
                <a:latin typeface="Google Sans"/>
              </a:rPr>
              <a:t>one single query</a:t>
            </a:r>
            <a:r>
              <a:rPr lang="en-IN" sz="2400" b="0" u="none" strike="noStrike" dirty="0">
                <a:effectLst/>
                <a:latin typeface="Google Sans"/>
              </a:rPr>
              <a:t>.  Classically, this requires n queries for an n-bit string. </a:t>
            </a:r>
          </a:p>
          <a:p>
            <a:endParaRPr lang="en-US" sz="2400" dirty="0"/>
          </a:p>
          <a:p>
            <a:r>
              <a:rPr lang="en-US" sz="2400" b="1" dirty="0"/>
              <a:t>Real-World Applications &amp; Where It Is Used:</a:t>
            </a:r>
          </a:p>
          <a:p>
            <a:r>
              <a:rPr lang="en-IN" sz="2400" b="1" dirty="0"/>
              <a:t>Quantum Processor Benchmarking</a:t>
            </a:r>
            <a:r>
              <a:rPr lang="en-US" sz="2400" b="1" dirty="0"/>
              <a:t> :</a:t>
            </a:r>
          </a:p>
          <a:p>
            <a:r>
              <a:rPr lang="en-US" sz="2400" b="0" u="none" strike="noStrike" dirty="0">
                <a:effectLst/>
                <a:latin typeface="Google Sans"/>
              </a:rPr>
              <a:t>Quantum hardware companies (like IBM via </a:t>
            </a:r>
            <a:r>
              <a:rPr lang="en-US" sz="2400" b="0" u="none" strike="noStrike" dirty="0" err="1">
                <a:effectLst/>
                <a:latin typeface="Google Sans"/>
                <a:hlinkClick r:id="rId3"/>
              </a:rPr>
              <a:t>Qiskit</a:t>
            </a:r>
            <a:r>
              <a:rPr lang="en-US" sz="2400" b="0" u="none" strike="noStrike" dirty="0">
                <a:effectLst/>
                <a:latin typeface="Google Sans"/>
              </a:rPr>
              <a:t>) use the algorithm as a standard "hello world" or validation test to check if a multi-qubit processor can accurately execute superposition, entanglement, and interference without excessive noise.</a:t>
            </a:r>
            <a:r>
              <a:rPr lang="en-US" sz="2400" dirty="0"/>
              <a:t> </a:t>
            </a:r>
          </a:p>
          <a:p>
            <a:r>
              <a:rPr lang="en-US" sz="2400" b="1" u="none" strike="noStrike" dirty="0">
                <a:effectLst/>
                <a:latin typeface="Google Sans"/>
              </a:rPr>
              <a:t>Cryptographic Oracle Analysis:</a:t>
            </a:r>
            <a:r>
              <a:rPr lang="en-US" sz="2400" dirty="0"/>
              <a:t> It models </a:t>
            </a:r>
            <a:r>
              <a:rPr lang="en-US" sz="2400" b="1" dirty="0"/>
              <a:t>how an attacker might query a black-box cipher </a:t>
            </a:r>
            <a:r>
              <a:rPr lang="en-US" sz="2400" dirty="0"/>
              <a:t>or protocol to extract hidden keys or linear masks in fewer steps than classical brute-forcing allows.</a:t>
            </a:r>
          </a:p>
          <a:p>
            <a:r>
              <a:rPr lang="en-US" sz="2400" b="1" u="none" strike="noStrike" dirty="0">
                <a:effectLst/>
                <a:latin typeface="Google Sans"/>
              </a:rPr>
              <a:t>Fault Diagnosis &amp; Troubleshooting:</a:t>
            </a:r>
            <a:r>
              <a:rPr lang="en-US" sz="2400" b="0" u="none" strike="noStrike" dirty="0">
                <a:effectLst/>
                <a:latin typeface="Google Sans"/>
              </a:rPr>
              <a:t> Conceptual frameworks adapt the algorithm to trace hidden faults in complex networks or logic gates by mapping functional dependencies to a single query pass.</a:t>
            </a:r>
            <a:r>
              <a:rPr lang="en-US" sz="2400" dirty="0"/>
              <a:t> </a:t>
            </a:r>
            <a:endParaRPr lang="en-IN" sz="2400" b="1" dirty="0">
              <a:latin typeface="Google Sans"/>
            </a:endParaRPr>
          </a:p>
          <a:p>
            <a:endParaRPr lang="en-IN" sz="2400" b="0" u="none" strike="noStrike" dirty="0">
              <a:effectLst/>
              <a:latin typeface="Google Sans"/>
            </a:endParaRPr>
          </a:p>
          <a:p>
            <a:endParaRPr lang="en-IN" sz="2400" dirty="0">
              <a:latin typeface="Google Sans"/>
            </a:endParaRPr>
          </a:p>
          <a:p>
            <a:endParaRPr lang="en-IN" sz="2400" dirty="0"/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9FC3BFAA-8A1C-293A-46A1-FBB21A2D8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64999-77AB-CED4-7CD7-044454E91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4D7F732-8A7B-5EB7-02E4-69B26231AEF0}"/>
              </a:ext>
            </a:extLst>
          </p:cNvPr>
          <p:cNvSpPr/>
          <p:nvPr/>
        </p:nvSpPr>
        <p:spPr>
          <a:xfrm>
            <a:off x="502920" y="3474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Bernstein–Vazirani Algorithm</a:t>
            </a:r>
            <a:endParaRPr lang="en-US" sz="4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1F38505-AA37-4F55-85BF-DB8F7B98DF96}"/>
              </a:ext>
            </a:extLst>
          </p:cNvPr>
          <p:cNvSpPr/>
          <p:nvPr/>
        </p:nvSpPr>
        <p:spPr>
          <a:xfrm>
            <a:off x="10469880" y="429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1 of 36</a:t>
            </a: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8245F6C-E1A0-B088-F6B7-9334E351D032}"/>
              </a:ext>
            </a:extLst>
          </p:cNvPr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A9B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0E337AB-C67F-1D5D-3F04-12E291045841}"/>
              </a:ext>
            </a:extLst>
          </p:cNvPr>
          <p:cNvSpPr/>
          <p:nvPr/>
        </p:nvSpPr>
        <p:spPr>
          <a:xfrm>
            <a:off x="685800" y="129844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Realistic application: discovering a hidden XOR / linear dependency</a:t>
            </a:r>
            <a:endParaRPr lang="en-US" sz="2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BA9AC8D-0D7E-8288-BA3E-A061DF444CAE}"/>
              </a:ext>
            </a:extLst>
          </p:cNvPr>
          <p:cNvSpPr/>
          <p:nvPr/>
        </p:nvSpPr>
        <p:spPr>
          <a:xfrm>
            <a:off x="640080" y="2103120"/>
            <a:ext cx="28346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9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2DED3D0-1198-1BD5-1C81-04A7AA522AC0}"/>
              </a:ext>
            </a:extLst>
          </p:cNvPr>
          <p:cNvSpPr/>
          <p:nvPr/>
        </p:nvSpPr>
        <p:spPr>
          <a:xfrm>
            <a:off x="777240" y="2286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Black-box circuit</a:t>
            </a:r>
            <a:endParaRPr lang="en-US" sz="2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B833C71-B757-F536-0091-98FFEE66BB7E}"/>
              </a:ext>
            </a:extLst>
          </p:cNvPr>
          <p:cNvSpPr/>
          <p:nvPr/>
        </p:nvSpPr>
        <p:spPr>
          <a:xfrm>
            <a:off x="804672" y="2761488"/>
            <a:ext cx="2505456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Inputs x₁, x₂, x₃ produce one parity/security bit f(x).</a:t>
            </a:r>
            <a:endParaRPr lang="en-US" sz="24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04AB971-B8FE-50EE-0AB0-486F543B404A}"/>
              </a:ext>
            </a:extLst>
          </p:cNvPr>
          <p:cNvSpPr/>
          <p:nvPr/>
        </p:nvSpPr>
        <p:spPr>
          <a:xfrm>
            <a:off x="3584448" y="2816352"/>
            <a:ext cx="502920" cy="502920"/>
          </a:xfrm>
          <a:prstGeom prst="chevron">
            <a:avLst/>
          </a:prstGeom>
          <a:solidFill>
            <a:srgbClr val="C78B16"/>
          </a:solidFill>
          <a:ln w="12700">
            <a:solidFill>
              <a:srgbClr val="C78B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24E18C5-1689-31C7-4DD6-537D0A2D5893}"/>
              </a:ext>
            </a:extLst>
          </p:cNvPr>
          <p:cNvSpPr/>
          <p:nvPr/>
        </p:nvSpPr>
        <p:spPr>
          <a:xfrm>
            <a:off x="4069080" y="2103120"/>
            <a:ext cx="2834640" cy="1965960"/>
          </a:xfrm>
          <a:prstGeom prst="roundRect">
            <a:avLst/>
          </a:prstGeom>
          <a:solidFill>
            <a:srgbClr val="EAF7F7"/>
          </a:solidFill>
          <a:ln w="1905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101B6E7-8538-9F78-D71F-6DC3B041CC12}"/>
              </a:ext>
            </a:extLst>
          </p:cNvPr>
          <p:cNvSpPr/>
          <p:nvPr/>
        </p:nvSpPr>
        <p:spPr>
          <a:xfrm>
            <a:off x="4206240" y="2286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6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Hidden relation</a:t>
            </a:r>
            <a:endParaRPr lang="en-US" sz="2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DD33518-99F3-E9E3-675F-15745AAC23B6}"/>
              </a:ext>
            </a:extLst>
          </p:cNvPr>
          <p:cNvSpPr/>
          <p:nvPr/>
        </p:nvSpPr>
        <p:spPr>
          <a:xfrm>
            <a:off x="4233672" y="2761488"/>
            <a:ext cx="2505456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24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Unknown rule: </a:t>
            </a:r>
          </a:p>
          <a:p>
            <a:pPr algn="ctr"/>
            <a:r>
              <a:rPr lang="en-US" sz="2400" dirty="0"/>
              <a:t>f(x) = s · x (mod 2)</a:t>
            </a:r>
          </a:p>
          <a:p>
            <a:pPr marL="0" indent="0" algn="ctr">
              <a:buNone/>
            </a:pPr>
            <a:endParaRPr lang="en-US" sz="2400" dirty="0">
              <a:solidFill>
                <a:srgbClr val="17212B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7C808AC-565A-B120-5FBE-EC9B532F5683}"/>
              </a:ext>
            </a:extLst>
          </p:cNvPr>
          <p:cNvSpPr/>
          <p:nvPr/>
        </p:nvSpPr>
        <p:spPr>
          <a:xfrm>
            <a:off x="7013448" y="2816352"/>
            <a:ext cx="502920" cy="502920"/>
          </a:xfrm>
          <a:prstGeom prst="chevron">
            <a:avLst/>
          </a:prstGeom>
          <a:solidFill>
            <a:srgbClr val="C78B16"/>
          </a:solidFill>
          <a:ln w="12700">
            <a:solidFill>
              <a:srgbClr val="C78B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38543AB-1894-8845-361B-B463E78897FD}"/>
              </a:ext>
            </a:extLst>
          </p:cNvPr>
          <p:cNvSpPr/>
          <p:nvPr/>
        </p:nvSpPr>
        <p:spPr>
          <a:xfrm>
            <a:off x="7498080" y="2103120"/>
            <a:ext cx="28346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9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09D3763-932E-8E4B-BBE8-4AA13DB1111F}"/>
              </a:ext>
            </a:extLst>
          </p:cNvPr>
          <p:cNvSpPr/>
          <p:nvPr/>
        </p:nvSpPr>
        <p:spPr>
          <a:xfrm>
            <a:off x="7635240" y="2286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26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F4F8B8A-670E-F2A6-2149-5C3D900D313E}"/>
              </a:ext>
            </a:extLst>
          </p:cNvPr>
          <p:cNvSpPr/>
          <p:nvPr/>
        </p:nvSpPr>
        <p:spPr>
          <a:xfrm>
            <a:off x="7662672" y="2761488"/>
            <a:ext cx="2505456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Recover the mask s = 101</a:t>
            </a:r>
            <a:endParaRPr lang="en-US" sz="24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86C0603-646A-6AC3-421A-3D3DBC7A4D77}"/>
              </a:ext>
            </a:extLst>
          </p:cNvPr>
          <p:cNvSpPr/>
          <p:nvPr/>
        </p:nvSpPr>
        <p:spPr>
          <a:xfrm>
            <a:off x="685800" y="4251960"/>
            <a:ext cx="11277600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b="1" dirty="0"/>
              <a:t>Problem Statement </a:t>
            </a:r>
          </a:p>
          <a:p>
            <a:r>
              <a:rPr lang="en-US" dirty="0"/>
              <a:t>given a function: f(x) = s · x (mod 2) , Where:  s is a hidden binary string of length n (e.g., s = 101) ,x is an n-bit binary input  ,· is the bitwise dot product modulo 2</a:t>
            </a:r>
          </a:p>
          <a:p>
            <a:r>
              <a:rPr lang="en-US" b="1" dirty="0"/>
              <a:t>Goal: </a:t>
            </a:r>
            <a:r>
              <a:rPr lang="en-US" dirty="0"/>
              <a:t>Determine the hidden string s with the minimum number of queries.</a:t>
            </a:r>
          </a:p>
          <a:p>
            <a:r>
              <a:rPr lang="en-US" b="1" dirty="0"/>
              <a:t>Classical Approach: </a:t>
            </a:r>
            <a:r>
              <a:rPr lang="en-US" dirty="0"/>
              <a:t>Requires n queries to the function f.</a:t>
            </a:r>
          </a:p>
          <a:p>
            <a:r>
              <a:rPr lang="en-US" b="1" dirty="0"/>
              <a:t>Quantum Advantage: Only 1 query</a:t>
            </a:r>
            <a:r>
              <a:rPr lang="en-US" dirty="0"/>
              <a:t> is needed , Exponential speedup!</a:t>
            </a:r>
          </a:p>
          <a:p>
            <a:pPr algn="ctr"/>
            <a:endParaRPr lang="en-US" sz="18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D1787215-28B6-2E92-7506-2210E56630B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959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Are We Trying to Find?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469880" y="429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2 of 36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A9B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417320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1508760"/>
            <a:ext cx="402336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3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Unknown secret mask:  s = 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0" y="1417320"/>
            <a:ext cx="4572000" cy="960120"/>
          </a:xfrm>
          <a:prstGeom prst="roundRect">
            <a:avLst>
              <a:gd name="adj" fmla="val 7619"/>
            </a:avLst>
          </a:prstGeom>
          <a:solidFill>
            <a:srgbClr val="EAF7F7"/>
          </a:solidFill>
          <a:ln w="1905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37960" y="1508760"/>
            <a:ext cx="429768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Actual hidden mask:  s = 101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057400" y="2880360"/>
            <a:ext cx="8046720" cy="82296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67128" y="2944368"/>
            <a:ext cx="78272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3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f(x) = s · x  (mod 2)</a:t>
            </a:r>
            <a:endParaRPr lang="en-US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9"/>
              <p:cNvSpPr/>
              <p:nvPr/>
            </p:nvSpPr>
            <p:spPr>
              <a:xfrm>
                <a:off x="731520" y="3977640"/>
                <a:ext cx="10744200" cy="1645920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ctr">
                <a:normAutofit/>
              </a:bodyPr>
              <a:lstStyle/>
              <a:p>
                <a:pPr marL="228600" indent="-228600">
                  <a:buSzPct val="100000"/>
                  <a:buChar char="•"/>
                </a:pPr>
                <a:r>
                  <a:rPr lang="en-US" sz="2500" dirty="0">
                    <a:solidFill>
                      <a:srgbClr val="17212B"/>
                    </a:solidFill>
                    <a:latin typeface="Aptos Display" pitchFamily="34" charset="0"/>
                    <a:ea typeface="Aptos Display" pitchFamily="34" charset="-122"/>
                    <a:cs typeface="Aptos Display" pitchFamily="34" charset="-120"/>
                  </a:rPr>
                  <a:t>s = 101 means bit 1 and bit 3 participate in the XOR relation.</a:t>
                </a:r>
                <a:endParaRPr lang="en-US" sz="2500" dirty="0"/>
              </a:p>
              <a:p>
                <a:pPr marL="228600" indent="-228600">
                  <a:buSzPct val="100000"/>
                  <a:buChar char="•"/>
                </a:pPr>
                <a:r>
                  <a:rPr lang="en-US" sz="2500" dirty="0">
                    <a:solidFill>
                      <a:srgbClr val="17212B"/>
                    </a:solidFill>
                    <a:latin typeface="Aptos Display" pitchFamily="34" charset="0"/>
                    <a:ea typeface="Aptos Display" pitchFamily="34" charset="-122"/>
                    <a:cs typeface="Aptos Display" pitchFamily="34" charset="-120"/>
                  </a:rPr>
                  <a:t>Therefore f(x) = 1.x₁ </a:t>
                </a:r>
                <a14:m>
                  <m:oMath xmlns:m="http://schemas.openxmlformats.org/officeDocument/2006/math">
                    <m:r>
                      <a:rPr lang="en-US" sz="2500" i="1" dirty="0" smtClean="0">
                        <a:solidFill>
                          <a:srgbClr val="17212B"/>
                        </a:solidFill>
                        <a:latin typeface="Cambria Math" panose="02040503050406030204" pitchFamily="18" charset="0"/>
                      </a:rPr>
                      <m:t>⊕</m:t>
                    </m:r>
                  </m:oMath>
                </a14:m>
                <a:r>
                  <a:rPr lang="en-US" sz="2500" dirty="0">
                    <a:solidFill>
                      <a:srgbClr val="17212B"/>
                    </a:solidFill>
                    <a:latin typeface="Aptos Display" pitchFamily="34" charset="0"/>
                    <a:ea typeface="Aptos Display" pitchFamily="34" charset="-122"/>
                    <a:cs typeface="Aptos Display" pitchFamily="34" charset="-120"/>
                  </a:rPr>
                  <a:t> 0.x₂ </a:t>
                </a:r>
                <a14:m>
                  <m:oMath xmlns:m="http://schemas.openxmlformats.org/officeDocument/2006/math">
                    <m:r>
                      <a:rPr lang="en-US" sz="2500" i="1" dirty="0">
                        <a:solidFill>
                          <a:srgbClr val="17212B"/>
                        </a:solidFill>
                        <a:latin typeface="Cambria Math" panose="02040503050406030204" pitchFamily="18" charset="0"/>
                      </a:rPr>
                      <m:t>⊕</m:t>
                    </m:r>
                  </m:oMath>
                </a14:m>
                <a:r>
                  <a:rPr lang="en-US" sz="2500" dirty="0">
                    <a:solidFill>
                      <a:srgbClr val="17212B"/>
                    </a:solidFill>
                    <a:latin typeface="Aptos Display" pitchFamily="34" charset="0"/>
                    <a:ea typeface="Aptos Display" pitchFamily="34" charset="-122"/>
                    <a:cs typeface="Aptos Display" pitchFamily="34" charset="-120"/>
                  </a:rPr>
                  <a:t> 1.x₃ = x₁ </a:t>
                </a:r>
                <a14:m>
                  <m:oMath xmlns:m="http://schemas.openxmlformats.org/officeDocument/2006/math">
                    <m:r>
                      <a:rPr lang="en-US" sz="2500" i="1" dirty="0">
                        <a:solidFill>
                          <a:srgbClr val="17212B"/>
                        </a:solidFill>
                        <a:latin typeface="Cambria Math" panose="02040503050406030204" pitchFamily="18" charset="0"/>
                      </a:rPr>
                      <m:t>⊕</m:t>
                    </m:r>
                  </m:oMath>
                </a14:m>
                <a:r>
                  <a:rPr lang="en-US" sz="2500" dirty="0">
                    <a:solidFill>
                      <a:srgbClr val="17212B"/>
                    </a:solidFill>
                    <a:latin typeface="Aptos Display" pitchFamily="34" charset="0"/>
                    <a:ea typeface="Aptos Display" pitchFamily="34" charset="-122"/>
                    <a:cs typeface="Aptos Display" pitchFamily="34" charset="-120"/>
                  </a:rPr>
                  <a:t> x₃.</a:t>
                </a:r>
                <a:endParaRPr lang="en-US" sz="2500" dirty="0"/>
              </a:p>
            </p:txBody>
          </p:sp>
        </mc:Choice>
        <mc:Fallback xmlns=""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3977640"/>
                <a:ext cx="10744200" cy="1645920"/>
              </a:xfrm>
              <a:prstGeom prst="rect">
                <a:avLst/>
              </a:prstGeom>
              <a:blipFill>
                <a:blip r:embed="rId3"/>
                <a:stretch>
                  <a:fillRect l="-1872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 Steps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27940">
            <a:solidFill>
              <a:srgbClr val="0E749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4327264" cy="1170432"/>
          </a:xfrm>
          <a:prstGeom prst="rect">
            <a:avLst/>
          </a:prstGeom>
          <a:solidFill>
            <a:srgbClr val="FFFFFF"/>
          </a:solidFill>
          <a:ln w="17780">
            <a:solidFill>
              <a:srgbClr val="0E7490">
                <a:alpha val="75000"/>
              </a:srgbClr>
            </a:solidFill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  <p:txBody>
          <a:bodyPr wrap="square" lIns="2032" tIns="2032" rIns="2032" bIns="2032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E7490"/>
                </a:solidFill>
                <a:ea typeface="Aptos Display" pitchFamily="34" charset="-122"/>
                <a:cs typeface="Aptos Display" pitchFamily="34" charset="-120"/>
              </a:rPr>
              <a:t>1. </a:t>
            </a:r>
            <a:r>
              <a:rPr lang="en-US" sz="2000" b="1" dirty="0">
                <a:solidFill>
                  <a:srgbClr val="111827"/>
                </a:solidFill>
                <a:ea typeface="Aptos Display" pitchFamily="34" charset="-122"/>
                <a:cs typeface="Aptos Display" pitchFamily="34" charset="-120"/>
              </a:rPr>
              <a:t>Initialization
</a:t>
            </a:r>
            <a:r>
              <a:rPr lang="en-US" sz="2000" dirty="0">
                <a:solidFill>
                  <a:srgbClr val="1F2937"/>
                </a:solidFill>
                <a:ea typeface="Aptos Display" pitchFamily="34" charset="-122"/>
                <a:cs typeface="Aptos Display" pitchFamily="34" charset="-120"/>
              </a:rPr>
              <a:t>Start with n qubits in the |0⟩ state and 1 ancilla qubit in the |1⟩ state:
</a:t>
            </a:r>
            <a:r>
              <a:rPr lang="en-US" sz="2000" b="1" dirty="0">
                <a:solidFill>
                  <a:srgbClr val="0F3F5E"/>
                </a:solidFill>
                <a:ea typeface="DejaVu Sans" pitchFamily="34" charset="-122"/>
                <a:cs typeface="DejaVu Sans" pitchFamily="34" charset="-120"/>
              </a:rPr>
              <a:t>|0⟩^⊗n ⊗ |1⟩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7608" y="1069848"/>
            <a:ext cx="6655577" cy="1170432"/>
          </a:xfrm>
          <a:prstGeom prst="rect">
            <a:avLst/>
          </a:prstGeom>
          <a:solidFill>
            <a:srgbClr val="FFFFFF"/>
          </a:solidFill>
          <a:ln w="17780">
            <a:solidFill>
              <a:srgbClr val="0284C7">
                <a:alpha val="75000"/>
              </a:srgbClr>
            </a:solidFill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  <p:txBody>
          <a:bodyPr wrap="square" lIns="2032" tIns="2032" rIns="2032" bIns="2032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284C7"/>
                </a:solidFill>
                <a:ea typeface="Aptos Display" pitchFamily="34" charset="-122"/>
                <a:cs typeface="Aptos Display" pitchFamily="34" charset="-120"/>
              </a:rPr>
              <a:t>2. </a:t>
            </a:r>
            <a:r>
              <a:rPr lang="en-US" sz="2000" b="1" dirty="0">
                <a:solidFill>
                  <a:srgbClr val="111827"/>
                </a:solidFill>
                <a:ea typeface="Aptos Display" pitchFamily="34" charset="-122"/>
                <a:cs typeface="Aptos Display" pitchFamily="34" charset="-120"/>
              </a:rPr>
              <a:t>Apply Hadamard Gates
</a:t>
            </a:r>
            <a:r>
              <a:rPr lang="en-US" sz="2000" dirty="0">
                <a:solidFill>
                  <a:srgbClr val="1F2937"/>
                </a:solidFill>
                <a:ea typeface="Aptos Display" pitchFamily="34" charset="-122"/>
                <a:cs typeface="Aptos Display" pitchFamily="34" charset="-120"/>
              </a:rPr>
              <a:t>Apply Hadamard gates to all n+1 qubits to create a uniform superposition:</a:t>
            </a:r>
            <a:r>
              <a:rPr lang="en-US" sz="2000" b="1" dirty="0">
                <a:solidFill>
                  <a:srgbClr val="0F3F5E"/>
                </a:solidFill>
                <a:ea typeface="DejaVu Sans" pitchFamily="34" charset="-122"/>
                <a:cs typeface="DejaVu Sans" pitchFamily="34" charset="-120"/>
              </a:rPr>
              <a:t>(1/√2^n) ∑_x |x⟩ ⊗ (|0⟩ - |1⟩)/√2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2523744"/>
            <a:ext cx="11146536" cy="1536192"/>
          </a:xfrm>
          <a:prstGeom prst="rect">
            <a:avLst/>
          </a:prstGeom>
          <a:solidFill>
            <a:srgbClr val="ECFEFF"/>
          </a:solidFill>
          <a:ln w="17780">
            <a:solidFill>
              <a:srgbClr val="0891B2">
                <a:alpha val="75000"/>
              </a:srgbClr>
            </a:solidFill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ea typeface="Aptos Display" pitchFamily="34" charset="-122"/>
                <a:cs typeface="Aptos Display" pitchFamily="34" charset="-120"/>
              </a:rPr>
              <a:t>3. </a:t>
            </a:r>
            <a:r>
              <a:rPr lang="en-US" sz="2000" b="1" dirty="0">
                <a:solidFill>
                  <a:srgbClr val="111827"/>
                </a:solidFill>
                <a:ea typeface="Aptos Display" pitchFamily="34" charset="-122"/>
                <a:cs typeface="Aptos Display" pitchFamily="34" charset="-120"/>
              </a:rPr>
              <a:t>Apply Oracle Uf
</a:t>
            </a:r>
            <a:r>
              <a:rPr lang="en-US" sz="2000" dirty="0">
                <a:solidFill>
                  <a:srgbClr val="1F2937"/>
                </a:solidFill>
                <a:ea typeface="Aptos Display" pitchFamily="34" charset="-122"/>
                <a:cs typeface="Aptos Display" pitchFamily="34" charset="-120"/>
              </a:rPr>
              <a:t>The oracle flips the phase of the state depending on the value of f(x): Uf: |x⟩|y⟩ → |x⟩|y ⊕ f(x)⟩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ea typeface="Aptos Display" pitchFamily="34" charset="-122"/>
                <a:cs typeface="Aptos Display" pitchFamily="34" charset="-120"/>
              </a:rPr>
              <a:t>Due to the ancilla being in the (|0⟩ - |1⟩) state, this results in a phase flip if f(x) = 1.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4343400"/>
            <a:ext cx="5486400" cy="1417320"/>
          </a:xfrm>
          <a:prstGeom prst="rect">
            <a:avLst/>
          </a:prstGeom>
          <a:solidFill>
            <a:srgbClr val="FFFFFF"/>
          </a:solidFill>
          <a:ln w="17780">
            <a:solidFill>
              <a:srgbClr val="06B6D4">
                <a:alpha val="75000"/>
              </a:srgbClr>
            </a:solidFill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6B6D4"/>
                </a:solidFill>
                <a:ea typeface="Aptos Display" pitchFamily="34" charset="-122"/>
                <a:cs typeface="Aptos Display" pitchFamily="34" charset="-120"/>
              </a:rPr>
              <a:t>4. </a:t>
            </a:r>
            <a:r>
              <a:rPr lang="en-US" sz="2000" b="1" dirty="0">
                <a:solidFill>
                  <a:srgbClr val="111827"/>
                </a:solidFill>
                <a:ea typeface="Aptos Display" pitchFamily="34" charset="-122"/>
                <a:cs typeface="Aptos Display" pitchFamily="34" charset="-120"/>
              </a:rPr>
              <a:t>Apply Hadamard Gates Again
</a:t>
            </a:r>
            <a:r>
              <a:rPr lang="en-US" sz="2000" dirty="0">
                <a:solidFill>
                  <a:srgbClr val="1F2937"/>
                </a:solidFill>
                <a:ea typeface="Aptos Display" pitchFamily="34" charset="-122"/>
                <a:cs typeface="Aptos Display" pitchFamily="34" charset="-120"/>
              </a:rPr>
              <a:t>Hadamards are applied to the first n qubits again. This causes quantum interference that isolates the hidden string 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172200" y="4343400"/>
            <a:ext cx="5477256" cy="1417320"/>
          </a:xfrm>
          <a:prstGeom prst="rect">
            <a:avLst/>
          </a:prstGeom>
          <a:solidFill>
            <a:srgbClr val="FFFFFF"/>
          </a:solidFill>
          <a:ln w="17780">
            <a:solidFill>
              <a:srgbClr val="0E7490">
                <a:alpha val="75000"/>
              </a:srgbClr>
            </a:solidFill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E749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</a:t>
            </a: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Measurement
</a:t>
            </a:r>
            <a:r>
              <a:rPr lang="en-US" sz="20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 the first n qubits. The result will be the hidden string s with 100% probability.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Quantum Solution Overview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469880" y="429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4 of 36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A9B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011680" y="4572000"/>
            <a:ext cx="8138160" cy="822960"/>
          </a:xfrm>
          <a:prstGeom prst="roundRect">
            <a:avLst>
              <a:gd name="adj" fmla="val 8889"/>
            </a:avLst>
          </a:prstGeom>
          <a:solidFill>
            <a:srgbClr val="EAF7F7"/>
          </a:solidFill>
          <a:ln w="1905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148840" y="4663440"/>
            <a:ext cx="78638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Quantum query complexity for the promised BV problem: 1 oracle query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75D70D-7BAC-9007-855A-496284AA2BF7}"/>
              </a:ext>
            </a:extLst>
          </p:cNvPr>
          <p:cNvSpPr txBox="1"/>
          <p:nvPr/>
        </p:nvSpPr>
        <p:spPr>
          <a:xfrm>
            <a:off x="502920" y="1179576"/>
            <a:ext cx="983488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2500" b="1" dirty="0">
                <a:solidFill>
                  <a:srgbClr val="0B6E75"/>
                </a:solidFill>
                <a:latin typeface="Aptos Display" pitchFamily="34" charset="0"/>
              </a:rPr>
              <a:t>Example (n = 3, s = 101)</a:t>
            </a:r>
          </a:p>
          <a:p>
            <a:pPr marL="342900" lvl="0" indent="-342900" algn="l">
              <a:spcAft>
                <a:spcPts val="1200"/>
              </a:spcAft>
              <a:buFont typeface="+mj-lt"/>
              <a:buAutoNum type="arabicPeriod"/>
            </a:pPr>
            <a:r>
              <a:rPr lang="en-US" sz="2500" b="1" dirty="0">
                <a:solidFill>
                  <a:srgbClr val="0B6E75"/>
                </a:solidFill>
                <a:latin typeface="Aptos Display" pitchFamily="34" charset="0"/>
              </a:rPr>
              <a:t>Initialize state: |000⟩|1⟩</a:t>
            </a:r>
          </a:p>
          <a:p>
            <a:pPr marL="342900" lvl="0" indent="-342900" algn="l">
              <a:spcAft>
                <a:spcPts val="1200"/>
              </a:spcAft>
              <a:buFont typeface="+mj-lt"/>
              <a:buAutoNum type="arabicPeriod"/>
            </a:pPr>
            <a:r>
              <a:rPr lang="en-US" sz="2500" b="1" dirty="0">
                <a:solidFill>
                  <a:srgbClr val="0B6E75"/>
                </a:solidFill>
                <a:latin typeface="Aptos Display" pitchFamily="34" charset="0"/>
              </a:rPr>
              <a:t>Hadamard: Superposition of all inputs</a:t>
            </a:r>
          </a:p>
          <a:p>
            <a:pPr marL="342900" lvl="0" indent="-342900" algn="l">
              <a:spcAft>
                <a:spcPts val="1200"/>
              </a:spcAft>
              <a:buFont typeface="+mj-lt"/>
              <a:buAutoNum type="arabicPeriod"/>
            </a:pPr>
            <a:r>
              <a:rPr lang="en-US" sz="2500" b="1" dirty="0">
                <a:solidFill>
                  <a:srgbClr val="0B6E75"/>
                </a:solidFill>
                <a:latin typeface="Aptos Display" pitchFamily="34" charset="0"/>
              </a:rPr>
              <a:t>Oracle flips phase based on s · x</a:t>
            </a:r>
          </a:p>
          <a:p>
            <a:pPr marL="342900" lvl="0" indent="-342900" algn="l">
              <a:spcAft>
                <a:spcPts val="1200"/>
              </a:spcAft>
              <a:buFont typeface="+mj-lt"/>
              <a:buAutoNum type="arabicPeriod"/>
            </a:pPr>
            <a:r>
              <a:rPr lang="en-US" sz="2500" b="1" dirty="0">
                <a:solidFill>
                  <a:srgbClr val="0B6E75"/>
                </a:solidFill>
                <a:latin typeface="Aptos Display" pitchFamily="34" charset="0"/>
              </a:rPr>
              <a:t>Second Hadamard: Interference pattern collapses to |101⟩</a:t>
            </a:r>
          </a:p>
          <a:p>
            <a:pPr marL="342900" lvl="0" indent="-342900" algn="l">
              <a:spcAft>
                <a:spcPts val="1200"/>
              </a:spcAft>
              <a:buFont typeface="+mj-lt"/>
              <a:buAutoNum type="arabicPeriod"/>
            </a:pPr>
            <a:r>
              <a:rPr lang="en-US" sz="2500" b="1" dirty="0">
                <a:solidFill>
                  <a:srgbClr val="0B6E75"/>
                </a:solidFill>
                <a:latin typeface="Aptos Display" pitchFamily="34" charset="0"/>
              </a:rPr>
              <a:t>Measure: Output is 101 — the hidden string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 Solution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469880" y="429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3 of 36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A9B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74420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6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Query x = 100 → f(100) = s</a:t>
            </a:r>
            <a:r>
              <a:rPr lang="en-US" sz="2600" baseline="-250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r>
              <a:rPr lang="en-US" sz="26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= 1</a:t>
            </a:r>
            <a:endParaRPr lang="en-US" sz="2600" dirty="0"/>
          </a:p>
          <a:p>
            <a:pPr marL="228600" indent="-228600">
              <a:buSzPct val="100000"/>
              <a:buChar char="•"/>
            </a:pPr>
            <a:r>
              <a:rPr lang="en-US" sz="26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Query x = 010 → f(010) = s</a:t>
            </a:r>
            <a:r>
              <a:rPr lang="en-US" sz="2600" baseline="-250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r>
              <a:rPr lang="en-US" sz="26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= 0</a:t>
            </a:r>
            <a:endParaRPr lang="en-US" sz="2600" dirty="0"/>
          </a:p>
          <a:p>
            <a:pPr marL="228600" indent="-228600">
              <a:buSzPct val="100000"/>
              <a:buChar char="•"/>
            </a:pPr>
            <a:r>
              <a:rPr lang="en-US" sz="26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Query x = 001 → f(001) = s</a:t>
            </a:r>
            <a:r>
              <a:rPr lang="en-US" sz="2600" baseline="-250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r>
              <a:rPr lang="en-US" sz="26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= 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0" y="3977640"/>
            <a:ext cx="4846320" cy="77724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767328" y="4041648"/>
            <a:ext cx="462686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Result: s = 101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920240" y="5074920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905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57400" y="5166360"/>
            <a:ext cx="81381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B55A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an n-bit string: deterministic classical method needs n oracle queries.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D1B822-5793-4FA4-B696-7D731E2FD059}"/>
              </a:ext>
            </a:extLst>
          </p:cNvPr>
          <p:cNvSpPr/>
          <p:nvPr/>
        </p:nvSpPr>
        <p:spPr>
          <a:xfrm>
            <a:off x="5245110" y="1136395"/>
            <a:ext cx="30572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rgbClr val="123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f(x) = s · x  (mod 2), S = 101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Hadamard Gate: The Key Ingredient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469880" y="429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5 of 36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A9B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0" y="1417320"/>
            <a:ext cx="8503920" cy="82296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938528" y="1481328"/>
            <a:ext cx="828446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3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 = (1/√2) [ [1, 1], [1, −1] ]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1074420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Hadamard changes computational-basis information into phase/superposition information.</a:t>
            </a:r>
            <a:endParaRPr lang="en-US" sz="2500" dirty="0"/>
          </a:p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 is also its own inverse: H² = I.</a:t>
            </a:r>
            <a:endParaRPr lang="en-US" sz="2500" dirty="0"/>
          </a:p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 BV, the first H layer creates superposition; the final H layer decodes phase into bits.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Hadamard Acting on |1⟩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469880" y="429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6 of 36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A9B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371600"/>
            <a:ext cx="4206240" cy="6858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15568" y="1435608"/>
            <a:ext cx="3986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3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|1⟩ = [0, 1]ᵀ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0" y="1371600"/>
            <a:ext cx="5669280" cy="6858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596128" y="1435608"/>
            <a:ext cx="544982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3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H|1⟩ = (1/√2)[1, −1]ᵀ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874520" y="2743200"/>
            <a:ext cx="8503920" cy="868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84248" y="2807208"/>
            <a:ext cx="82844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A4C9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H|1⟩ = (|0⟩ − |1⟩)/√2 = |−⟩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31520" y="4069080"/>
            <a:ext cx="107442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This |−⟩ state is essential because X|−⟩ = −|−⟩.</a:t>
            </a:r>
            <a:endParaRPr lang="en-US" sz="2500" dirty="0"/>
          </a:p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That minus sign is what allows phase kickback.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Initialize the BV Circuit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469880" y="429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7 of 36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A9B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834640" y="1417320"/>
            <a:ext cx="6583680" cy="82296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44368" y="1481328"/>
            <a:ext cx="63642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23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Initial state:  |000⟩|1⟩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383280" y="2560320"/>
            <a:ext cx="530352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6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</a:t>
            </a:r>
            <a:r>
              <a:rPr lang="en-US" sz="2600" dirty="0" smtClean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₁ = </a:t>
            </a:r>
            <a:r>
              <a:rPr lang="en-US" sz="26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|0⟩</a:t>
            </a:r>
            <a:endParaRPr lang="en-US" sz="2600" dirty="0"/>
          </a:p>
          <a:p>
            <a:pPr marL="228600" indent="-228600">
              <a:buSzPct val="100000"/>
              <a:buChar char="•"/>
            </a:pPr>
            <a:r>
              <a:rPr lang="en-US" sz="26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q₂ </a:t>
            </a:r>
            <a:r>
              <a:rPr lang="en-US" sz="2600" dirty="0" smtClean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= </a:t>
            </a:r>
            <a:r>
              <a:rPr lang="en-US" sz="26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|0⟩</a:t>
            </a:r>
            <a:endParaRPr lang="en-US" sz="2600" dirty="0"/>
          </a:p>
          <a:p>
            <a:pPr marL="228600" indent="-228600">
              <a:buSzPct val="100000"/>
              <a:buChar char="•"/>
            </a:pPr>
            <a:r>
              <a:rPr lang="en-US" sz="26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q₃ = |0⟩</a:t>
            </a:r>
            <a:endParaRPr lang="en-US" sz="2600" dirty="0"/>
          </a:p>
          <a:p>
            <a:pPr marL="228600" indent="-228600">
              <a:buSzPct val="100000"/>
              <a:buChar char="•"/>
            </a:pPr>
            <a:r>
              <a:rPr lang="en-US" sz="26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ancilla qₐ = |1⟩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623620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5C67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data register starts at |000⟩; the ancilla starts at |1⟩ so that H creates |−⟩.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Hadamard to All Four Qubits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469880" y="429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8 of 36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A9B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443696"/>
            <a:ext cx="4480560" cy="77724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426110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|0⟩  —H→  |+⟩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0" y="1417320"/>
            <a:ext cx="4480560" cy="77724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10528" y="1481328"/>
            <a:ext cx="426110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A4C9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|1⟩  —H→  |−⟩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874520" y="2743200"/>
            <a:ext cx="8503920" cy="868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84248" y="2807208"/>
            <a:ext cx="82844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3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|000⟩|1⟩  —H⊗4→  |+++⟩|−⟩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107442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first three qubits become an equal superposition.</a:t>
            </a:r>
            <a:endParaRPr lang="en-US" sz="2500" dirty="0"/>
          </a:p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ancilla becomes |−⟩ and is ready for phase kickback.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the Three-Qubit Superposition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469880" y="429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9 of 36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A9B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0835640" cy="105156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5528" y="1481328"/>
            <a:ext cx="1061618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23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|+⟩⊗3 = 1/√8 (|000⟩+|001⟩+|010⟩+|011⟩+|100⟩+|101⟩+|110⟩+|111⟩)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1074420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qubits represent amplitudes over 2³ = 8 computational-basis states.</a:t>
            </a:r>
            <a:endParaRPr lang="en-US" sz="2500" dirty="0"/>
          </a:p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This is quantum parallelism—but the eight values cannot simply be read out independently.</a:t>
            </a:r>
            <a:endParaRPr lang="en-US" sz="2500" dirty="0"/>
          </a:p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oracle must encode useful global information into phase.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 for the Secret s = 101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469880" y="429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10 of 36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A9B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40480" y="1234440"/>
            <a:ext cx="4572000" cy="6858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3950208" y="1298448"/>
                <a:ext cx="4352544" cy="55778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3000" b="1" dirty="0">
                    <a:solidFill>
                      <a:srgbClr val="6A4C93"/>
                    </a:solidFill>
                    <a:latin typeface="Aptos Display" pitchFamily="34" charset="0"/>
                    <a:ea typeface="Aptos Display" pitchFamily="34" charset="-122"/>
                    <a:cs typeface="Aptos Display" pitchFamily="34" charset="-120"/>
                  </a:rPr>
                  <a:t>f(x) = x₁ </a:t>
                </a:r>
                <a14:m>
                  <m:oMath xmlns:m="http://schemas.openxmlformats.org/officeDocument/2006/math">
                    <m:r>
                      <a:rPr lang="en-US" sz="3000" b="1" dirty="0" smtClean="0">
                        <a:solidFill>
                          <a:srgbClr val="6A4C93"/>
                        </a:solidFill>
                        <a:latin typeface="Cambria Math" panose="02040503050406030204" pitchFamily="18" charset="0"/>
                      </a:rPr>
                      <m:t>⊕</m:t>
                    </m:r>
                  </m:oMath>
                </a14:m>
                <a:r>
                  <a:rPr lang="en-US" sz="3000" b="1" dirty="0">
                    <a:solidFill>
                      <a:srgbClr val="6A4C93"/>
                    </a:solidFill>
                    <a:latin typeface="Aptos Display" pitchFamily="34" charset="0"/>
                    <a:ea typeface="Aptos Display" pitchFamily="34" charset="-122"/>
                    <a:cs typeface="Aptos Display" pitchFamily="34" charset="-120"/>
                  </a:rPr>
                  <a:t> x₃</a:t>
                </a:r>
                <a:endParaRPr lang="en-US" sz="3000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208" y="1298448"/>
                <a:ext cx="4352544" cy="557784"/>
              </a:xfrm>
              <a:prstGeom prst="rect">
                <a:avLst/>
              </a:prstGeom>
              <a:blipFill>
                <a:blip r:embed="rId3"/>
                <a:stretch>
                  <a:fillRect t="-13043" b="-33696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594360" y="207568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q1 |0⟩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28986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q2 |0⟩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37216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q3 |0⟩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45445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qa |1⟩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645920" y="2194560"/>
            <a:ext cx="9326880" cy="0"/>
          </a:xfrm>
          <a:prstGeom prst="line">
            <a:avLst/>
          </a:prstGeom>
          <a:noFill/>
          <a:ln w="25400">
            <a:solidFill>
              <a:srgbClr val="123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645920" y="3017520"/>
            <a:ext cx="9326880" cy="0"/>
          </a:xfrm>
          <a:prstGeom prst="line">
            <a:avLst/>
          </a:prstGeom>
          <a:noFill/>
          <a:ln w="25400">
            <a:solidFill>
              <a:srgbClr val="123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645920" y="3840480"/>
            <a:ext cx="9326880" cy="0"/>
          </a:xfrm>
          <a:prstGeom prst="line">
            <a:avLst/>
          </a:prstGeom>
          <a:noFill/>
          <a:ln w="25400">
            <a:solidFill>
              <a:srgbClr val="123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645920" y="4663440"/>
            <a:ext cx="9326880" cy="0"/>
          </a:xfrm>
          <a:prstGeom prst="line">
            <a:avLst/>
          </a:prstGeom>
          <a:noFill/>
          <a:ln w="25400">
            <a:solidFill>
              <a:srgbClr val="123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011680" y="1975104"/>
            <a:ext cx="438912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011680" y="202996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011680" y="2798064"/>
            <a:ext cx="438912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011680" y="285292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011680" y="3621024"/>
            <a:ext cx="438912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011680" y="367588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2011680" y="4443984"/>
            <a:ext cx="438912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011680" y="44988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794760" y="1691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A4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  s = 101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4343400" y="2194560"/>
            <a:ext cx="0" cy="2468880"/>
          </a:xfrm>
          <a:prstGeom prst="line">
            <a:avLst/>
          </a:prstGeom>
          <a:noFill/>
          <a:ln w="254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261104" y="2112264"/>
            <a:ext cx="164592" cy="164592"/>
          </a:xfrm>
          <a:prstGeom prst="ellipse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97096" y="451713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233672" y="4663440"/>
            <a:ext cx="219456" cy="0"/>
          </a:xfrm>
          <a:prstGeom prst="line">
            <a:avLst/>
          </a:prstGeom>
          <a:noFill/>
          <a:ln w="254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343400" y="4553712"/>
            <a:ext cx="0" cy="219456"/>
          </a:xfrm>
          <a:prstGeom prst="line">
            <a:avLst/>
          </a:prstGeom>
          <a:noFill/>
          <a:ln w="254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486400" y="3840480"/>
            <a:ext cx="0" cy="822960"/>
          </a:xfrm>
          <a:prstGeom prst="line">
            <a:avLst/>
          </a:prstGeom>
          <a:noFill/>
          <a:ln w="254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404104" y="3758184"/>
            <a:ext cx="164592" cy="164592"/>
          </a:xfrm>
          <a:prstGeom prst="ellipse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340096" y="451713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376672" y="4663440"/>
            <a:ext cx="219456" cy="0"/>
          </a:xfrm>
          <a:prstGeom prst="line">
            <a:avLst/>
          </a:prstGeom>
          <a:noFill/>
          <a:ln w="254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486400" y="4553712"/>
            <a:ext cx="0" cy="219456"/>
          </a:xfrm>
          <a:prstGeom prst="line">
            <a:avLst/>
          </a:prstGeom>
          <a:noFill/>
          <a:ln w="254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315200" y="1975104"/>
            <a:ext cx="438912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315200" y="202996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7315200" y="2798064"/>
            <a:ext cx="438912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315200" y="285292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315200" y="3621024"/>
            <a:ext cx="438912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315200" y="367588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8869680" y="2011680"/>
            <a:ext cx="365760" cy="36576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C78B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052560" y="2194560"/>
            <a:ext cx="164592" cy="0"/>
          </a:xfrm>
          <a:prstGeom prst="line">
            <a:avLst/>
          </a:prstGeom>
          <a:noFill/>
          <a:ln w="25400">
            <a:solidFill>
              <a:srgbClr val="C78B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869680" y="2834640"/>
            <a:ext cx="365760" cy="36576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C78B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052560" y="3017520"/>
            <a:ext cx="164592" cy="0"/>
          </a:xfrm>
          <a:prstGeom prst="line">
            <a:avLst/>
          </a:prstGeom>
          <a:noFill/>
          <a:ln w="25400">
            <a:solidFill>
              <a:srgbClr val="C78B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869680" y="3657600"/>
            <a:ext cx="365760" cy="36576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C78B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9052560" y="3840480"/>
            <a:ext cx="164592" cy="0"/>
          </a:xfrm>
          <a:prstGeom prst="line">
            <a:avLst/>
          </a:prstGeom>
          <a:noFill/>
          <a:ln w="25400">
            <a:solidFill>
              <a:srgbClr val="C78B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85800" y="623620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5C67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Because s₂ = 0, q₂ does not control the ancilla. CNOTs are used from q₁ and q₃.</a:t>
            </a:r>
            <a:endParaRPr lang="en-US" sz="18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Kickback: Core Calculation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469880" y="429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11 of 36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A9B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325880"/>
            <a:ext cx="4800600" cy="73152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15568" y="1389888"/>
            <a:ext cx="4581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3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|−⟩ = (|0⟩ − |1⟩)/√2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309360" y="1325880"/>
            <a:ext cx="4800600" cy="73152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19088" y="1389888"/>
            <a:ext cx="4581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3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X|−⟩ = (|1⟩ − |0⟩)/√2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965960" y="2743200"/>
            <a:ext cx="8321040" cy="868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75688" y="2807208"/>
            <a:ext cx="810158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941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X|−⟩ = −(|0⟩ − |1⟩)/√2 = −|−⟩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143000" y="4160520"/>
            <a:ext cx="9875520" cy="914400"/>
          </a:xfrm>
          <a:prstGeom prst="roundRect">
            <a:avLst>
              <a:gd name="adj" fmla="val 8000"/>
            </a:avLst>
          </a:prstGeom>
          <a:solidFill>
            <a:srgbClr val="FFF0F0"/>
          </a:solidFill>
          <a:ln w="1905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80160" y="4251960"/>
            <a:ext cx="96012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B941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ancilla returns to the same physical state, but the input branch acquires a minus phase.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Phase Kickback Matters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469880" y="429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12 of 36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A9B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0" y="1325880"/>
            <a:ext cx="8412480" cy="82296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938528" y="1389888"/>
            <a:ext cx="81930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A4C9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U_f |x⟩|−⟩ = (−1)^{f(x)} |x⟩|−⟩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1074420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6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If f(x) = 0 → phase factor is +1.</a:t>
            </a:r>
            <a:endParaRPr lang="en-US" sz="2600" dirty="0"/>
          </a:p>
          <a:p>
            <a:pPr marL="228600" indent="-228600">
              <a:buSzPct val="100000"/>
              <a:buChar char="•"/>
            </a:pPr>
            <a:r>
              <a:rPr lang="en-US" sz="26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If f(x) = 1 → phase factor is −1</a:t>
            </a:r>
            <a:endParaRPr lang="en-US" sz="2600" dirty="0"/>
          </a:p>
          <a:p>
            <a:pPr marL="228600" indent="-228600">
              <a:buSzPct val="100000"/>
              <a:buChar char="•"/>
            </a:pPr>
            <a:r>
              <a:rPr lang="en-US" sz="26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oracle output has been converted into a relative phase on the input register.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 Output for All 8 Inputs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469880" y="429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13 of 36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A9B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2725737"/>
                  </p:ext>
                </p:extLst>
              </p:nvPr>
            </p:nvGraphicFramePr>
            <p:xfrm>
              <a:off x="1051560" y="1234440"/>
              <a:ext cx="8595360" cy="3950208"/>
            </p:xfrm>
            <a:graphic>
              <a:graphicData uri="http://schemas.openxmlformats.org/drawingml/2006/table">
                <a:tbl>
                  <a:tblPr/>
                  <a:tblGrid>
                    <a:gridCol w="16459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3891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x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x</a:t>
                          </a:r>
                          <a:r>
                            <a:rPr lang="en-US" sz="2200" dirty="0" smtClean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₁ 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x</a:t>
                          </a:r>
                          <a:r>
                            <a:rPr lang="en-US" sz="2200" dirty="0" smtClean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₂ 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x</a:t>
                          </a:r>
                          <a:r>
                            <a:rPr lang="en-US" sz="2200" dirty="0" smtClean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₃ 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f=x</a:t>
                          </a:r>
                          <a:r>
                            <a:rPr lang="en-US" sz="2200" dirty="0" smtClean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 </a:t>
                          </a: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₁</a:t>
                          </a:r>
                          <a:r>
                            <a:rPr lang="en-US" sz="2200" dirty="0" smtClean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smtClean="0">
                                  <a:solidFill>
                                    <a:srgbClr val="17212B"/>
                                  </a:solidFill>
                                  <a:latin typeface="Cambria Math" panose="02040503050406030204" pitchFamily="18" charset="0"/>
                                </a:rPr>
                                <m:t>⊕</m:t>
                              </m:r>
                            </m:oMath>
                          </a14:m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x₃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Phase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000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+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001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−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010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+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011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−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100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−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101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+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110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−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111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+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2725737"/>
                  </p:ext>
                </p:extLst>
              </p:nvPr>
            </p:nvGraphicFramePr>
            <p:xfrm>
              <a:off x="1051560" y="1234440"/>
              <a:ext cx="8595360" cy="3950208"/>
            </p:xfrm>
            <a:graphic>
              <a:graphicData uri="http://schemas.openxmlformats.org/drawingml/2006/table">
                <a:tbl>
                  <a:tblPr/>
                  <a:tblGrid>
                    <a:gridCol w="16459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3891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x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x</a:t>
                          </a:r>
                          <a:r>
                            <a:rPr lang="en-US" sz="2200" dirty="0" smtClean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₁ 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x</a:t>
                          </a:r>
                          <a:r>
                            <a:rPr lang="en-US" sz="2200" dirty="0" smtClean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₂ 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x</a:t>
                          </a:r>
                          <a:r>
                            <a:rPr lang="en-US" sz="2200" dirty="0" smtClean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₃ 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6533" t="-11111" r="-60533" b="-8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Phase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000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+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001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−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010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+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011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−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100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−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101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+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110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−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111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1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0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200" dirty="0">
                              <a:solidFill>
                                <a:srgbClr val="17212B"/>
                              </a:solidFill>
                              <a:latin typeface="Aptos Display" pitchFamily="34" charset="0"/>
                              <a:ea typeface="Aptos Display" pitchFamily="34" charset="-122"/>
                              <a:cs typeface="Aptos Display" pitchFamily="34" charset="-120"/>
                            </a:rPr>
                            <a:t>+</a:t>
                          </a:r>
                          <a:endParaRPr lang="en-US" sz="2200" dirty="0">
                            <a:latin typeface="Aptos Display" charset="0"/>
                            <a:ea typeface="Aptos Display" charset="0"/>
                            <a:cs typeface="Aptos Display" charset="0"/>
                          </a:endParaRPr>
                        </a:p>
                      </a:txBody>
                      <a:tcPr marL="36576" marR="36576" marT="36576" marB="36576">
                        <a:lnL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9C7C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Important: We Have Not Yet Obtained 101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469880" y="429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14 of 36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A9B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1325880"/>
            <a:ext cx="10058400" cy="868680"/>
          </a:xfrm>
          <a:prstGeom prst="roundRect">
            <a:avLst>
              <a:gd name="adj" fmla="val 8421"/>
            </a:avLst>
          </a:prstGeom>
          <a:solidFill>
            <a:srgbClr val="FFF7E8"/>
          </a:solidFill>
          <a:ln w="1905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1417320"/>
            <a:ext cx="978408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B55A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 the oracle, the secret is stored as a pattern of + and − phases.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2743200"/>
            <a:ext cx="10332720" cy="82296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4128" y="2807208"/>
            <a:ext cx="101132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A4C9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000:+   001:−  010:+   011:−   100:−   101:+   110:−   111:+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731520" y="4069080"/>
            <a:ext cx="1074420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Direct computational-basis measurement cannot reveal these signs.</a:t>
            </a:r>
            <a:endParaRPr lang="en-US" sz="2500" dirty="0"/>
          </a:p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second Hadamard layer is required to convert phase information into measurable bits.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 the Phase Pattern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469880" y="429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15 of 36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A9B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10835640" cy="9144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5528" y="1298448"/>
            <a:ext cx="106161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3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1/√8 (|000⟩−|001⟩+|010⟩−|011⟩−|100⟩+|101⟩−|110⟩+|111⟩)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0" y="2606040"/>
            <a:ext cx="4846320" cy="82296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767328" y="2670048"/>
            <a:ext cx="4626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A4C9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= |−⟩ |+⟩ |−⟩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28346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9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4023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 bit 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04672" y="4498848"/>
            <a:ext cx="2505456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encoded as |−⟩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584448" y="4553712"/>
            <a:ext cx="502920" cy="502920"/>
          </a:xfrm>
          <a:prstGeom prst="chevron">
            <a:avLst/>
          </a:prstGeom>
          <a:solidFill>
            <a:srgbClr val="C78B16"/>
          </a:solidFill>
          <a:ln w="12700">
            <a:solidFill>
              <a:srgbClr val="C78B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069080" y="3840480"/>
            <a:ext cx="2834640" cy="1965960"/>
          </a:xfrm>
          <a:prstGeom prst="roundRect">
            <a:avLst/>
          </a:prstGeom>
          <a:solidFill>
            <a:srgbClr val="EAF7F7"/>
          </a:solidFill>
          <a:ln w="1905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06240" y="4023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6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 bit 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233672" y="4498848"/>
            <a:ext cx="2505456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encoded as |+⟩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7013448" y="4553712"/>
            <a:ext cx="502920" cy="502920"/>
          </a:xfrm>
          <a:prstGeom prst="chevron">
            <a:avLst/>
          </a:prstGeom>
          <a:solidFill>
            <a:srgbClr val="C78B16"/>
          </a:solidFill>
          <a:ln w="12700">
            <a:solidFill>
              <a:srgbClr val="C78B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98080" y="3840480"/>
            <a:ext cx="28346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9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635240" y="4023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 bit 1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662672" y="4498848"/>
            <a:ext cx="2505456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encoded as |−⟩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Hadamard Decodes the Phase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469880" y="429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16 of 36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A9B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480560" cy="82296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4261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H|+⟩ = |0⟩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0" y="1417320"/>
            <a:ext cx="4480560" cy="82296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10528" y="1481328"/>
            <a:ext cx="4261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A4C9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H|</a:t>
            </a:r>
            <a:r>
              <a:rPr lang="en-US" sz="3000" b="1" dirty="0" smtClean="0">
                <a:solidFill>
                  <a:srgbClr val="6A4C9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− ⟩  </a:t>
            </a:r>
            <a:r>
              <a:rPr lang="en-US" sz="3000" b="1" dirty="0">
                <a:solidFill>
                  <a:srgbClr val="6A4C9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= |1⟩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057400" y="3063240"/>
            <a:ext cx="8046720" cy="868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67128" y="3127248"/>
            <a:ext cx="78272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|− </a:t>
            </a:r>
            <a:r>
              <a:rPr lang="en-US" sz="3200" b="1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 </a:t>
            </a:r>
            <a:r>
              <a:rPr lang="en-US" sz="3200" b="1" smtClean="0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− ⟩   </a:t>
            </a:r>
            <a:r>
              <a:rPr lang="en-US" sz="3200" b="1" dirty="0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—H⊗3→  |1 0 1⟩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1074420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Hadamard is its own inverse: H² = I.</a:t>
            </a:r>
            <a:endParaRPr lang="en-US" sz="2500" dirty="0"/>
          </a:p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 converts the phase-basis representation back to computational bits.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 Qubit 1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469880" y="429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17 of 36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A9B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0" y="1417320"/>
            <a:ext cx="8503920" cy="77724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938528" y="1481328"/>
            <a:ext cx="828446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3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final H: q₁ = |−⟩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926080" y="2743200"/>
            <a:ext cx="6309360" cy="868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35808" y="2807208"/>
            <a:ext cx="6089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H|−⟩ = |1⟩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2743200" y="4297680"/>
            <a:ext cx="6675120" cy="777240"/>
          </a:xfrm>
          <a:prstGeom prst="roundRect">
            <a:avLst>
              <a:gd name="adj" fmla="val 9412"/>
            </a:avLst>
          </a:prstGeom>
          <a:solidFill>
            <a:srgbClr val="EAF7F7"/>
          </a:solidFill>
          <a:ln w="1905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80360" y="4389120"/>
            <a:ext cx="640080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Therefore the first secret bit is 1.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 Qubit 2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469880" y="429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18 of 36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A9B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0" y="1417320"/>
            <a:ext cx="8503920" cy="77724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938528" y="1481328"/>
            <a:ext cx="828446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3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final H: q₂ = |+⟩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926080" y="2743200"/>
            <a:ext cx="6309360" cy="868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35808" y="2807208"/>
            <a:ext cx="6089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H|+⟩ = |0⟩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2743200" y="4297680"/>
            <a:ext cx="6675120" cy="777240"/>
          </a:xfrm>
          <a:prstGeom prst="roundRect">
            <a:avLst>
              <a:gd name="adj" fmla="val 9412"/>
            </a:avLst>
          </a:prstGeom>
          <a:solidFill>
            <a:srgbClr val="EAF7F7"/>
          </a:solidFill>
          <a:ln w="1905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80360" y="4389120"/>
            <a:ext cx="640080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Therefore the second secret bit is 0.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 Qubit 3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469880" y="429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19 of 36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A9B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0" y="1417320"/>
            <a:ext cx="8503920" cy="77724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938528" y="1481328"/>
            <a:ext cx="828446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3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final H: q₃ = |−⟩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926080" y="2743200"/>
            <a:ext cx="6309360" cy="868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35808" y="2807208"/>
            <a:ext cx="6089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H|−⟩ = |1⟩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2743200" y="4297680"/>
            <a:ext cx="6675120" cy="777240"/>
          </a:xfrm>
          <a:prstGeom prst="roundRect">
            <a:avLst>
              <a:gd name="adj" fmla="val 9412"/>
            </a:avLst>
          </a:prstGeom>
          <a:solidFill>
            <a:srgbClr val="EAF7F7"/>
          </a:solidFill>
          <a:ln w="1905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80360" y="4389120"/>
            <a:ext cx="640080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Therefore the third secret bit is 1.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 Gives the Secret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469880" y="429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20 of 36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A9B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0" y="1417320"/>
            <a:ext cx="6675120" cy="868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852928" y="1481328"/>
            <a:ext cx="64556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q₁ q₂ q₃  = 1 0 1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743200" y="2743200"/>
            <a:ext cx="6675120" cy="1005840"/>
          </a:xfrm>
          <a:prstGeom prst="roundRect">
            <a:avLst>
              <a:gd name="adj" fmla="val 7273"/>
            </a:avLst>
          </a:prstGeom>
          <a:solidFill>
            <a:srgbClr val="EAF7F7"/>
          </a:solidFill>
          <a:ln w="1905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880360" y="2834640"/>
            <a:ext cx="64008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Measured secret:  s = 101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731520" y="4251960"/>
                <a:ext cx="10744200" cy="1280160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ctr">
                <a:normAutofit/>
              </a:bodyPr>
              <a:lstStyle/>
              <a:p>
                <a:pPr marL="228600" indent="-228600">
                  <a:buSzPct val="100000"/>
                  <a:buChar char="•"/>
                </a:pPr>
                <a:r>
                  <a:rPr lang="en-US" sz="2500" dirty="0">
                    <a:solidFill>
                      <a:srgbClr val="17212B"/>
                    </a:solidFill>
                    <a:latin typeface="Aptos Display" pitchFamily="34" charset="0"/>
                    <a:ea typeface="Aptos Display" pitchFamily="34" charset="-122"/>
                    <a:cs typeface="Aptos Display" pitchFamily="34" charset="-120"/>
                  </a:rPr>
                  <a:t>The unknown black-box rule is therefore f(x) = x₁  </a:t>
                </a:r>
                <a14:m>
                  <m:oMath xmlns:m="http://schemas.openxmlformats.org/officeDocument/2006/math">
                    <m:r>
                      <a:rPr lang="en-US" sz="2500" dirty="0" smtClean="0">
                        <a:solidFill>
                          <a:srgbClr val="17212B"/>
                        </a:solidFill>
                        <a:latin typeface="Cambria Math" panose="02040503050406030204" pitchFamily="18" charset="0"/>
                      </a:rPr>
                      <m:t>⊕</m:t>
                    </m:r>
                  </m:oMath>
                </a14:m>
                <a:r>
                  <a:rPr lang="en-US" sz="2500" dirty="0">
                    <a:solidFill>
                      <a:srgbClr val="17212B"/>
                    </a:solidFill>
                    <a:latin typeface="Aptos Display" pitchFamily="34" charset="0"/>
                    <a:ea typeface="Aptos Display" pitchFamily="34" charset="-122"/>
                    <a:cs typeface="Aptos Display" pitchFamily="34" charset="-120"/>
                  </a:rPr>
                  <a:t>  x₃.</a:t>
                </a:r>
                <a:endParaRPr lang="en-US" sz="2500" dirty="0"/>
              </a:p>
              <a:p>
                <a:pPr marL="228600" indent="-228600">
                  <a:buSzPct val="100000"/>
                  <a:buChar char="•"/>
                </a:pPr>
                <a:r>
                  <a:rPr lang="en-US" sz="2500" dirty="0">
                    <a:solidFill>
                      <a:srgbClr val="17212B"/>
                    </a:solidFill>
                    <a:latin typeface="Aptos Display" pitchFamily="34" charset="0"/>
                    <a:ea typeface="Aptos Display" pitchFamily="34" charset="-122"/>
                    <a:cs typeface="Aptos Display" pitchFamily="34" charset="-120"/>
                  </a:rPr>
                  <a:t>In the ideal noiseless BV circuit, the correct bit string is obtained deterministically.</a:t>
                </a:r>
                <a:endParaRPr lang="en-US" sz="2500" dirty="0"/>
              </a:p>
            </p:txBody>
          </p:sp>
        </mc:Choice>
        <mc:Fallback xmlns=""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4251960"/>
                <a:ext cx="10744200" cy="1280160"/>
              </a:xfrm>
              <a:prstGeom prst="rect">
                <a:avLst/>
              </a:prstGeom>
              <a:blipFill>
                <a:blip r:embed="rId3"/>
                <a:stretch>
                  <a:fillRect l="-1872" t="-3333" b="-10000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Entire BV Circuit at a Glance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469880" y="429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21 of 36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A9B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61848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q1 |0⟩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4414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q2 |0⟩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32644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q3 |0⟩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40873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qa |1⟩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645920" y="1737360"/>
            <a:ext cx="9326880" cy="0"/>
          </a:xfrm>
          <a:prstGeom prst="line">
            <a:avLst/>
          </a:prstGeom>
          <a:noFill/>
          <a:ln w="25400">
            <a:solidFill>
              <a:srgbClr val="123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45920" y="2560320"/>
            <a:ext cx="9326880" cy="0"/>
          </a:xfrm>
          <a:prstGeom prst="line">
            <a:avLst/>
          </a:prstGeom>
          <a:noFill/>
          <a:ln w="25400">
            <a:solidFill>
              <a:srgbClr val="123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645920" y="3383280"/>
            <a:ext cx="9326880" cy="0"/>
          </a:xfrm>
          <a:prstGeom prst="line">
            <a:avLst/>
          </a:prstGeom>
          <a:noFill/>
          <a:ln w="25400">
            <a:solidFill>
              <a:srgbClr val="123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645920" y="4206240"/>
            <a:ext cx="9326880" cy="0"/>
          </a:xfrm>
          <a:prstGeom prst="line">
            <a:avLst/>
          </a:prstGeom>
          <a:noFill/>
          <a:ln w="25400">
            <a:solidFill>
              <a:srgbClr val="123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011680" y="1517904"/>
            <a:ext cx="438912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011680" y="157276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011680" y="2340864"/>
            <a:ext cx="438912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011680" y="239572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011680" y="3163824"/>
            <a:ext cx="438912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011680" y="321868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011680" y="3986784"/>
            <a:ext cx="438912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011680" y="4041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794760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A4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  s = 101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4343400" y="1737360"/>
            <a:ext cx="0" cy="2468880"/>
          </a:xfrm>
          <a:prstGeom prst="line">
            <a:avLst/>
          </a:prstGeom>
          <a:noFill/>
          <a:ln w="254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261104" y="1655064"/>
            <a:ext cx="164592" cy="164592"/>
          </a:xfrm>
          <a:prstGeom prst="ellipse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197096" y="405993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233672" y="4206240"/>
            <a:ext cx="219456" cy="0"/>
          </a:xfrm>
          <a:prstGeom prst="line">
            <a:avLst/>
          </a:prstGeom>
          <a:noFill/>
          <a:ln w="254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343400" y="4096512"/>
            <a:ext cx="0" cy="219456"/>
          </a:xfrm>
          <a:prstGeom prst="line">
            <a:avLst/>
          </a:prstGeom>
          <a:noFill/>
          <a:ln w="254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486400" y="3383280"/>
            <a:ext cx="0" cy="822960"/>
          </a:xfrm>
          <a:prstGeom prst="line">
            <a:avLst/>
          </a:prstGeom>
          <a:noFill/>
          <a:ln w="254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404104" y="3300984"/>
            <a:ext cx="164592" cy="164592"/>
          </a:xfrm>
          <a:prstGeom prst="ellipse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340096" y="405993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376672" y="4206240"/>
            <a:ext cx="219456" cy="0"/>
          </a:xfrm>
          <a:prstGeom prst="line">
            <a:avLst/>
          </a:prstGeom>
          <a:noFill/>
          <a:ln w="254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486400" y="4096512"/>
            <a:ext cx="0" cy="219456"/>
          </a:xfrm>
          <a:prstGeom prst="line">
            <a:avLst/>
          </a:prstGeom>
          <a:noFill/>
          <a:ln w="254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315200" y="1517904"/>
            <a:ext cx="438912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315200" y="157276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7315200" y="2340864"/>
            <a:ext cx="438912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315200" y="239572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7315200" y="3163824"/>
            <a:ext cx="438912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315200" y="321868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8869680" y="1554480"/>
            <a:ext cx="365760" cy="36576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C78B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052560" y="1737360"/>
            <a:ext cx="164592" cy="0"/>
          </a:xfrm>
          <a:prstGeom prst="line">
            <a:avLst/>
          </a:prstGeom>
          <a:noFill/>
          <a:ln w="25400">
            <a:solidFill>
              <a:srgbClr val="C78B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869680" y="2377440"/>
            <a:ext cx="365760" cy="36576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C78B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052560" y="2560320"/>
            <a:ext cx="164592" cy="0"/>
          </a:xfrm>
          <a:prstGeom prst="line">
            <a:avLst/>
          </a:prstGeom>
          <a:noFill/>
          <a:ln w="25400">
            <a:solidFill>
              <a:srgbClr val="C78B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869680" y="3200400"/>
            <a:ext cx="365760" cy="36576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C78B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052560" y="3383280"/>
            <a:ext cx="164592" cy="0"/>
          </a:xfrm>
          <a:prstGeom prst="line">
            <a:avLst/>
          </a:prstGeom>
          <a:noFill/>
          <a:ln w="25400">
            <a:solidFill>
              <a:srgbClr val="C78B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85800" y="623620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5C67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First H layer → oracle/phase kickback → final H layer → measurement.</a:t>
            </a:r>
            <a:endParaRPr lang="en-US" sz="18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State Evolution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469880" y="429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22 of 36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A9B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8346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9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04672" y="2121408"/>
            <a:ext cx="2505456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|000⟩|1⟩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584448" y="2176272"/>
            <a:ext cx="502920" cy="502920"/>
          </a:xfrm>
          <a:prstGeom prst="chevron">
            <a:avLst/>
          </a:prstGeom>
          <a:solidFill>
            <a:srgbClr val="C78B16"/>
          </a:solidFill>
          <a:ln w="12700">
            <a:solidFill>
              <a:srgbClr val="C78B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069080" y="1463040"/>
            <a:ext cx="2834640" cy="1965960"/>
          </a:xfrm>
          <a:prstGeom prst="roundRect">
            <a:avLst/>
          </a:prstGeom>
          <a:solidFill>
            <a:srgbClr val="EAF7F7"/>
          </a:solidFill>
          <a:ln w="1905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06240" y="1645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6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first H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233672" y="2121408"/>
            <a:ext cx="2505456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|+++⟩|−⟩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013448" y="2176272"/>
            <a:ext cx="502920" cy="502920"/>
          </a:xfrm>
          <a:prstGeom prst="chevron">
            <a:avLst/>
          </a:prstGeom>
          <a:solidFill>
            <a:srgbClr val="C78B16"/>
          </a:solidFill>
          <a:ln w="12700">
            <a:solidFill>
              <a:srgbClr val="C78B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98080" y="1463040"/>
            <a:ext cx="28346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9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35240" y="1645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oracle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662672" y="2121408"/>
            <a:ext cx="2505456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|−+−⟩|−⟩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828800" y="4343400"/>
            <a:ext cx="8595360" cy="82296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938528" y="4407408"/>
            <a:ext cx="83759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H⊗3 → |101⟩|−⟩ → Measure → 101</a:t>
            </a:r>
            <a:endParaRPr lang="en-US" sz="2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Is the Quantum Parallelism?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469880" y="429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23 of 36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A9B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97280" y="1371600"/>
            <a:ext cx="9966960" cy="82296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07008" y="1435608"/>
            <a:ext cx="97475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A4C9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1/√8 Σₓ |x⟩  —U_f→  1/√8 Σₓ (−1)^{f(x)} |x⟩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074420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oracle acts coherently on the superposition in one quantum query.</a:t>
            </a:r>
            <a:endParaRPr lang="en-US" sz="2500" dirty="0"/>
          </a:p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But we do not read eight separate answers.</a:t>
            </a:r>
            <a:endParaRPr lang="en-US" sz="2500" dirty="0"/>
          </a:p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Instead, the phase pattern is engineered so that interference reveals one global property: the hidden mask s.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Interference: Constructive and Destructive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469880" y="429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24 of 36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A9B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37160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FF0F0"/>
          </a:solidFill>
          <a:ln w="1905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463040"/>
            <a:ext cx="44805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B941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Wrong candidates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583680" y="137160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EDF8EE"/>
          </a:solidFill>
          <a:ln w="1905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20840" y="1463040"/>
            <a:ext cx="44805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 candidate s = 101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914400" y="2606040"/>
            <a:ext cx="4572000" cy="77724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" y="2670048"/>
            <a:ext cx="435254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941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+1 − 1 +1 −1 … = 0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492240" y="2606040"/>
            <a:ext cx="4754880" cy="77724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01968" y="2670048"/>
            <a:ext cx="453542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+1 +1 +1 +1 +1 +1 +1 = 8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31520" y="4023360"/>
            <a:ext cx="1074420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Destructive interference cancels incorrect output amplitudes.</a:t>
            </a:r>
            <a:endParaRPr lang="en-US" sz="2500" dirty="0"/>
          </a:p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Constructive interference concentrates amplitude on |101⟩.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Only the Secret State Survives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469880" y="429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25 of 36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A9B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1234440"/>
            <a:ext cx="10058400" cy="73152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61288" y="1298448"/>
            <a:ext cx="9838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23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 oracle:  1/√(2ⁿ)  Σₓ (−1)^{s·x}|x⟩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2331720"/>
            <a:ext cx="10378440" cy="868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4128" y="2395728"/>
            <a:ext cx="1015898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A4C9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 H⊗n:  1/2ⁿ Σᵧ [Σₓ (−1)^{x·( </a:t>
            </a:r>
            <a:r>
              <a:rPr lang="en-US" sz="2500" b="1" dirty="0" err="1">
                <a:solidFill>
                  <a:srgbClr val="6A4C9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s⊕y</a:t>
            </a:r>
            <a:r>
              <a:rPr lang="en-US" sz="2500" b="1" dirty="0">
                <a:solidFill>
                  <a:srgbClr val="6A4C9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)}] |y⟩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731520" y="3703320"/>
            <a:ext cx="10744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If y = s, then s ⊕ y = 0…0 and every term contributes +1 → amplitude 1.</a:t>
            </a:r>
            <a:endParaRPr lang="en-US" sz="2500" dirty="0"/>
          </a:p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If y ≠ s, positive and negative terms cancel → amplitude 0.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 to Cryptanalysis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469880" y="429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26 of 36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A9B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28346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9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Cipher / Boolean map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04672" y="2212848"/>
            <a:ext cx="2505456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Treat part of a construction as a black-box function.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584448" y="2267712"/>
            <a:ext cx="502920" cy="502920"/>
          </a:xfrm>
          <a:prstGeom prst="chevron">
            <a:avLst/>
          </a:prstGeom>
          <a:solidFill>
            <a:srgbClr val="C78B16"/>
          </a:solidFill>
          <a:ln w="12700">
            <a:solidFill>
              <a:srgbClr val="C78B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069080" y="1554480"/>
            <a:ext cx="2834640" cy="1965960"/>
          </a:xfrm>
          <a:prstGeom prst="roundRect">
            <a:avLst/>
          </a:prstGeom>
          <a:solidFill>
            <a:srgbClr val="EAF7F7"/>
          </a:solidFill>
          <a:ln w="1905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0624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6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structure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233672" y="2212848"/>
            <a:ext cx="2505456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Look for linear/XOR relations or useful differentials.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013448" y="2267712"/>
            <a:ext cx="502920" cy="502920"/>
          </a:xfrm>
          <a:prstGeom prst="chevron">
            <a:avLst/>
          </a:prstGeom>
          <a:solidFill>
            <a:srgbClr val="C78B16"/>
          </a:solidFill>
          <a:ln w="12700">
            <a:solidFill>
              <a:srgbClr val="C78B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98080" y="1554480"/>
            <a:ext cx="28346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9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3524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use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662672" y="2212848"/>
            <a:ext cx="2505456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distinguishers or analyze partial-key information under quantum access models.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85800" y="623620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5C67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This is a research connection; textbook BV is not a direct “break any cipher” algorithm.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Fields Where BV Ideas Are Useful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469880" y="429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27 of 36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A9B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4440"/>
          <a:ext cx="10835640" cy="402336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7212B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Field</a:t>
                      </a:r>
                      <a:endParaRPr lang="en-US" sz="21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7212B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How BV contributes</a:t>
                      </a:r>
                      <a:endParaRPr lang="en-US" sz="21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7212B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Cybersecurity / cryptanalysis</a:t>
                      </a:r>
                      <a:endParaRPr lang="en-US" sz="21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7212B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Hidden linear structure in Boolean functions</a:t>
                      </a:r>
                      <a:endParaRPr lang="en-US" sz="21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7212B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Quantum learning</a:t>
                      </a:r>
                      <a:endParaRPr lang="en-US" sz="21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7212B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Learning parity / linear functions</a:t>
                      </a:r>
                      <a:endParaRPr lang="en-US" sz="21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7212B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LPN / LWE research</a:t>
                      </a:r>
                      <a:endParaRPr lang="en-US" sz="21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7212B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Noisy linear relations under special quantum-sample models</a:t>
                      </a:r>
                      <a:endParaRPr lang="en-US" sz="21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7212B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Boolean-function analysis</a:t>
                      </a:r>
                      <a:endParaRPr lang="en-US" sz="21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7212B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Identify participating variables in linear parity</a:t>
                      </a:r>
                      <a:endParaRPr lang="en-US" sz="21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7212B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Quantum hardware testing</a:t>
                      </a:r>
                      <a:endParaRPr lang="en-US" sz="21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7212B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Check phase coherence and gate quality</a:t>
                      </a:r>
                      <a:endParaRPr lang="en-US" sz="21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7212B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Education</a:t>
                      </a:r>
                      <a:endParaRPr lang="en-US" sz="21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7212B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Teach oracles, phase kickback, interference</a:t>
                      </a:r>
                      <a:endParaRPr lang="en-US" sz="21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1: Cybersecurity and Cryptanalysis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469880" y="429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28 of 36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A9B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74420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Cryptographic components are often built from Boolean functions and XOR-based structures.</a:t>
            </a:r>
            <a:endParaRPr lang="en-US" sz="2500" dirty="0"/>
          </a:p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BV-derived Fourier-sampling ideas can help expose linear structures under appropriate oracle access.</a:t>
            </a:r>
            <a:endParaRPr lang="en-US" sz="2500" dirty="0"/>
          </a:p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has connected these ideas with quantum distinguishers, Feistel-style constructions, and partial-key analysis.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34440" y="4617720"/>
            <a:ext cx="9692640" cy="822960"/>
          </a:xfrm>
          <a:prstGeom prst="roundRect">
            <a:avLst>
              <a:gd name="adj" fmla="val 8889"/>
            </a:avLst>
          </a:prstGeom>
          <a:solidFill>
            <a:srgbClr val="EAF7F7"/>
          </a:solidFill>
          <a:ln w="1905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4709160"/>
            <a:ext cx="94183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Most mature interpretation: research tool for discovering hidden linear structure.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2: Learning Parity Functions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469880" y="429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29 of 36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A9B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11680" y="1325880"/>
            <a:ext cx="8138160" cy="77724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2121408" y="1389888"/>
                <a:ext cx="7918704" cy="6492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3000" b="1" dirty="0">
                    <a:solidFill>
                      <a:srgbClr val="6A4C93"/>
                    </a:solidFill>
                    <a:latin typeface="Aptos Display" pitchFamily="34" charset="0"/>
                    <a:ea typeface="Aptos Display" pitchFamily="34" charset="-122"/>
                    <a:cs typeface="Aptos Display" pitchFamily="34" charset="-120"/>
                  </a:rPr>
                  <a:t>Example target:  y = x₂  </a:t>
                </a:r>
                <a14:m>
                  <m:oMath xmlns:m="http://schemas.openxmlformats.org/officeDocument/2006/math">
                    <m:r>
                      <a:rPr lang="en-US" sz="3000" b="1" smtClean="0">
                        <a:solidFill>
                          <a:srgbClr val="6A4C93"/>
                        </a:solidFill>
                        <a:latin typeface="Cambria Math" panose="02040503050406030204" pitchFamily="18" charset="0"/>
                      </a:rPr>
                      <m:t>⊕</m:t>
                    </m:r>
                  </m:oMath>
                </a14:m>
                <a:r>
                  <a:rPr lang="en-US" sz="3000" b="1" dirty="0">
                    <a:solidFill>
                      <a:srgbClr val="6A4C93"/>
                    </a:solidFill>
                    <a:latin typeface="Aptos Display" pitchFamily="34" charset="0"/>
                    <a:ea typeface="Aptos Display" pitchFamily="34" charset="-122"/>
                    <a:cs typeface="Aptos Display" pitchFamily="34" charset="-120"/>
                  </a:rPr>
                  <a:t>x₅ </a:t>
                </a:r>
                <a14:m>
                  <m:oMath xmlns:m="http://schemas.openxmlformats.org/officeDocument/2006/math">
                    <m:r>
                      <a:rPr lang="en-US" sz="3000" b="1" smtClean="0">
                        <a:solidFill>
                          <a:srgbClr val="6A4C93"/>
                        </a:solidFill>
                        <a:latin typeface="Cambria Math" panose="02040503050406030204" pitchFamily="18" charset="0"/>
                      </a:rPr>
                      <m:t>⊕</m:t>
                    </m:r>
                  </m:oMath>
                </a14:m>
                <a:r>
                  <a:rPr lang="en-US" sz="3000" b="1" dirty="0">
                    <a:solidFill>
                      <a:srgbClr val="6A4C93"/>
                    </a:solidFill>
                    <a:latin typeface="Aptos Display" pitchFamily="34" charset="0"/>
                    <a:ea typeface="Aptos Display" pitchFamily="34" charset="-122"/>
                    <a:cs typeface="Aptos Display" pitchFamily="34" charset="-120"/>
                  </a:rPr>
                  <a:t>x₉</a:t>
                </a:r>
                <a:endParaRPr lang="en-US" sz="3000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1408" y="1389888"/>
                <a:ext cx="7918704" cy="649224"/>
              </a:xfrm>
              <a:prstGeom prst="rect">
                <a:avLst/>
              </a:prstGeom>
              <a:blipFill>
                <a:blip r:embed="rId3"/>
                <a:stretch>
                  <a:fillRect t="-4673" b="-21495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731520" y="2743200"/>
            <a:ext cx="1074420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hidden mask identifies which features participate in the parity relation.</a:t>
            </a:r>
            <a:endParaRPr lang="en-US" sz="2500" dirty="0"/>
          </a:p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This is mathematically the same structure as f(x) = s · x (mod 2).</a:t>
            </a:r>
            <a:endParaRPr lang="en-US" sz="2500" dirty="0"/>
          </a:p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BV therefore provides a clean quantum example of learning a linear Boolean rule.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3: Learning with Noise / Cryptographic Problems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469880" y="429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30 of 36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A9B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1325880"/>
            <a:ext cx="4572000" cy="73152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61288" y="1389888"/>
            <a:ext cx="43525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23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Noiseless:  b = s · x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6583680" y="1325880"/>
            <a:ext cx="4572000" cy="73152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93408" y="1389888"/>
            <a:ext cx="43525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B941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Noisy:  b = s · x ⊕ e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1074420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error bit e turns parity learning into a noisy linear-learning problem.</a:t>
            </a:r>
            <a:endParaRPr lang="en-US" sz="2500" dirty="0"/>
          </a:p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This resembles Learning Parity with Noise (LPN); related work also studies LWE-type settings.</a:t>
            </a:r>
            <a:endParaRPr lang="en-US" sz="2500" dirty="0"/>
          </a:p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advantage depends strongly on how the required quantum samples/oracles can be prepared.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4: Boolean Function Analysis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469880" y="429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31 of 36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A9B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325880"/>
            <a:ext cx="10332720" cy="82296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4128" y="1389888"/>
            <a:ext cx="101132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6A4C9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f(x₁,…,x₁₀₀) = x₃ ⊕ x₁₇ ⊕ x₆₄ ⊕ x₉₁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074420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mask indicates exactly which variables participate in the linear relation.</a:t>
            </a:r>
            <a:endParaRPr lang="en-US" sz="2500" dirty="0"/>
          </a:p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Under the BV promise and coherent oracle access, the hidden mask can be recovered directly.</a:t>
            </a:r>
            <a:endParaRPr lang="en-US" sz="2500" dirty="0"/>
          </a:p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General software dependency analysis is not automatically a BV problem—the linear promise matters.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5: Quantum Hardware Benchmarking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469880" y="429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32 of 36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A9B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28346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9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phases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04672" y="2212848"/>
            <a:ext cx="2505456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Hadamards create |+⟩ and |−⟩ states.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584448" y="2267712"/>
            <a:ext cx="502920" cy="502920"/>
          </a:xfrm>
          <a:prstGeom prst="chevron">
            <a:avLst/>
          </a:prstGeom>
          <a:solidFill>
            <a:srgbClr val="C78B16"/>
          </a:solidFill>
          <a:ln w="12700">
            <a:solidFill>
              <a:srgbClr val="C78B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069080" y="1554480"/>
            <a:ext cx="2834640" cy="1965960"/>
          </a:xfrm>
          <a:prstGeom prst="roundRect">
            <a:avLst/>
          </a:prstGeom>
          <a:solidFill>
            <a:srgbClr val="EAF7F7"/>
          </a:solidFill>
          <a:ln w="1905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0624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6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Entangle / kick back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233672" y="2212848"/>
            <a:ext cx="2505456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CNOT-based oracle must preserve phase information.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013448" y="2267712"/>
            <a:ext cx="502920" cy="502920"/>
          </a:xfrm>
          <a:prstGeom prst="chevron">
            <a:avLst/>
          </a:prstGeom>
          <a:solidFill>
            <a:srgbClr val="C78B16"/>
          </a:solidFill>
          <a:ln w="12700">
            <a:solidFill>
              <a:srgbClr val="C78B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98080" y="1554480"/>
            <a:ext cx="28346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9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3524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success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662672" y="2212848"/>
            <a:ext cx="2505456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Noise appears as wrong bit strings instead of the ideal secret.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234440" y="4617720"/>
            <a:ext cx="9692640" cy="822960"/>
          </a:xfrm>
          <a:prstGeom prst="roundRect">
            <a:avLst>
              <a:gd name="adj" fmla="val 8889"/>
            </a:avLst>
          </a:prstGeom>
          <a:solidFill>
            <a:srgbClr val="EDF8EE"/>
          </a:solidFill>
          <a:ln w="1905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71600" y="4709160"/>
            <a:ext cx="94183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BV is compact enough for small-device demonstrations and gate/coherence experiments.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BV a Commercially Deployed Real-Time Algorithm?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469880" y="429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33 of 36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A9B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43000" y="1325880"/>
            <a:ext cx="9875520" cy="868680"/>
          </a:xfrm>
          <a:prstGeom prst="roundRect">
            <a:avLst>
              <a:gd name="adj" fmla="val 8421"/>
            </a:avLst>
          </a:prstGeom>
          <a:solidFill>
            <a:srgbClr val="FFF0F0"/>
          </a:solidFill>
          <a:ln w="1905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B941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Mostly no—not in the textbook “find a hidden password” form.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1074420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Its direct problem is a specially promised oracle problem.</a:t>
            </a:r>
            <a:endParaRPr lang="en-US" sz="2500" dirty="0"/>
          </a:p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Its strongest present value is foundational research, cryptanalysis research, quantum learning research, and hardware experimentation.</a:t>
            </a:r>
            <a:endParaRPr lang="en-US" sz="2500" dirty="0"/>
          </a:p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 teach it as a model of quantum advantage and algorithmic technique—not as a routine banking or hospital application.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Study Bernstein–Vazirani in Quantum Computing?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469880" y="429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34 of 36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A9B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417320" cy="1417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202996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6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349300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23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Superposition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2880360" y="1828800"/>
            <a:ext cx="1417320" cy="1417320"/>
          </a:xfrm>
          <a:prstGeom prst="ellipse">
            <a:avLst/>
          </a:prstGeom>
          <a:solidFill>
            <a:srgbClr val="DDF3F4"/>
          </a:solidFill>
          <a:ln w="2540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0" y="202996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6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60320" y="349300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23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Quantum oracle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120640" y="1828800"/>
            <a:ext cx="1417320" cy="1417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532120" y="202996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6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800600" y="349300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23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kickback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7360920" y="1828800"/>
            <a:ext cx="1417320" cy="1417320"/>
          </a:xfrm>
          <a:prstGeom prst="ellipse">
            <a:avLst/>
          </a:prstGeom>
          <a:solidFill>
            <a:srgbClr val="DDF3F4"/>
          </a:solidFill>
          <a:ln w="2540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0" y="202996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6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040880" y="349300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23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Interference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9601200" y="1828800"/>
            <a:ext cx="1417320" cy="1417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12680" y="202996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6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281160" y="349300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23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Measurement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685800" y="623620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5C67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These ideas recur in more advanced algorithms such as Simon, Grover, phase estimation, and Shor.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Visual Way to Remember BV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469880" y="429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35 of 36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A9B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28346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9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SPREAD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04672" y="2212848"/>
            <a:ext cx="2505456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Hadamard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|000⟩ → superposition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584448" y="2267712"/>
            <a:ext cx="502920" cy="502920"/>
          </a:xfrm>
          <a:prstGeom prst="chevron">
            <a:avLst/>
          </a:prstGeom>
          <a:solidFill>
            <a:srgbClr val="C78B16"/>
          </a:solidFill>
          <a:ln w="12700">
            <a:solidFill>
              <a:srgbClr val="C78B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069080" y="1554480"/>
            <a:ext cx="2834640" cy="1965960"/>
          </a:xfrm>
          <a:prstGeom prst="roundRect">
            <a:avLst/>
          </a:prstGeom>
          <a:solidFill>
            <a:srgbClr val="EAF7F7"/>
          </a:solidFill>
          <a:ln w="1905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0624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6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233672" y="2212848"/>
            <a:ext cx="2505456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Oracle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secret → phase pattern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013448" y="2267712"/>
            <a:ext cx="502920" cy="502920"/>
          </a:xfrm>
          <a:prstGeom prst="chevron">
            <a:avLst/>
          </a:prstGeom>
          <a:solidFill>
            <a:srgbClr val="C78B16"/>
          </a:solidFill>
          <a:ln w="12700">
            <a:solidFill>
              <a:srgbClr val="C78B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98080" y="1554480"/>
            <a:ext cx="28346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9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3524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662672" y="2212848"/>
            <a:ext cx="2505456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Hadamard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→ |101⟩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005840" y="4343400"/>
            <a:ext cx="10241280" cy="868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CED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15568" y="4407408"/>
            <a:ext cx="100218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6A4C9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|000⟩|1⟩ → |+++⟩|− ⟩ → |−+−⟩|−⟩ → |101⟩|−⟩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2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Interpretation and Lecture Takeaway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469880" y="429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36 of 36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12700">
            <a:solidFill>
              <a:srgbClr val="A9B8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280160"/>
            <a:ext cx="10561320" cy="914400"/>
          </a:xfrm>
          <a:prstGeom prst="roundRect">
            <a:avLst>
              <a:gd name="adj" fmla="val 8000"/>
            </a:avLst>
          </a:prstGeom>
          <a:solidFill>
            <a:srgbClr val="EAF7F7"/>
          </a:solidFill>
          <a:ln w="19050">
            <a:solidFill>
              <a:srgbClr val="0B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371600"/>
            <a:ext cx="102870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B6E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Bernstein–Vazirani finds a hidden binary linear/parity structure s in f(x)=s·x (mod 2).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1074420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First Hadamards create the superposition.</a:t>
            </a:r>
            <a:endParaRPr lang="en-US" sz="2500" dirty="0"/>
          </a:p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oracle uses phase kickback to encode the hidden relation.</a:t>
            </a:r>
            <a:endParaRPr lang="en-US" sz="2500" dirty="0"/>
          </a:p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Hadamards convert phase into measurable bits through interference.</a:t>
            </a:r>
            <a:endParaRPr lang="en-US" sz="2500" dirty="0"/>
          </a:p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the example s = 101, the ideal output is exactly 101.</a:t>
            </a:r>
            <a:endParaRPr lang="en-US" sz="2500" dirty="0"/>
          </a:p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fields: cryptanalysis research, parity learning, Boolean-function analysis, quantum hardware testing, and education.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85800" y="623620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5C67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Memory line: Hadamard → Superposition → Oracle → Phase Kickback → Interference → Measurement.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4114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 Display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2500</Words>
  <Application>Microsoft Office PowerPoint</Application>
  <PresentationFormat>Widescreen</PresentationFormat>
  <Paragraphs>437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Aptos</vt:lpstr>
      <vt:lpstr>Aptos Display</vt:lpstr>
      <vt:lpstr>Arial</vt:lpstr>
      <vt:lpstr>Cambria Math</vt:lpstr>
      <vt:lpstr>DejaVu Sans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Bernstein-Vazirani Algorithm</dc:title>
  <dc:subject>Bernstein-Vazirani Algorithm lecture</dc:subject>
  <dc:creator>OpenAI</dc:creator>
  <cp:lastModifiedBy>ADMIN</cp:lastModifiedBy>
  <cp:revision>25</cp:revision>
  <dcterms:created xsi:type="dcterms:W3CDTF">2026-08-12T15:45:05Z</dcterms:created>
  <dcterms:modified xsi:type="dcterms:W3CDTF">2026-08-13T09:55:45Z</dcterms:modified>
</cp:coreProperties>
</file>